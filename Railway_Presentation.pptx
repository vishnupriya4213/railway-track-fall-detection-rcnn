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2" r:id="rId1"/>
  </p:sldMasterIdLst>
  <p:notesMasterIdLst>
    <p:notesMasterId r:id="rId31"/>
  </p:notesMasterIdLst>
  <p:sldIdLst>
    <p:sldId id="265" r:id="rId2"/>
    <p:sldId id="266" r:id="rId3"/>
    <p:sldId id="256" r:id="rId4"/>
    <p:sldId id="257" r:id="rId5"/>
    <p:sldId id="267" r:id="rId6"/>
    <p:sldId id="268" r:id="rId7"/>
    <p:sldId id="269" r:id="rId8"/>
    <p:sldId id="258" r:id="rId9"/>
    <p:sldId id="295" r:id="rId10"/>
    <p:sldId id="296" r:id="rId11"/>
    <p:sldId id="297" r:id="rId12"/>
    <p:sldId id="298" r:id="rId13"/>
    <p:sldId id="299" r:id="rId14"/>
    <p:sldId id="300" r:id="rId15"/>
    <p:sldId id="301" r:id="rId16"/>
    <p:sldId id="287" r:id="rId17"/>
    <p:sldId id="294" r:id="rId18"/>
    <p:sldId id="302" r:id="rId19"/>
    <p:sldId id="272" r:id="rId20"/>
    <p:sldId id="259" r:id="rId21"/>
    <p:sldId id="273" r:id="rId22"/>
    <p:sldId id="303" r:id="rId23"/>
    <p:sldId id="304" r:id="rId24"/>
    <p:sldId id="305" r:id="rId25"/>
    <p:sldId id="306" r:id="rId26"/>
    <p:sldId id="279" r:id="rId27"/>
    <p:sldId id="289" r:id="rId28"/>
    <p:sldId id="286" r:id="rId29"/>
    <p:sldId id="293" r:id="rId30"/>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E"/>
    <a:srgbClr val="FFFFFF"/>
    <a:srgbClr val="FCFBFE"/>
    <a:srgbClr val="C7E9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5841" autoAdjust="0"/>
    <p:restoredTop sz="94610"/>
  </p:normalViewPr>
  <p:slideViewPr>
    <p:cSldViewPr snapToGrid="0" snapToObjects="1">
      <p:cViewPr varScale="1">
        <p:scale>
          <a:sx n="51" d="100"/>
          <a:sy n="51" d="100"/>
        </p:scale>
        <p:origin x="68"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2-05T10:40:01.532"/>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646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7AD1-73D4-6B86-B3E0-834CDF149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715E1-4CBD-C387-131F-A8FB599E9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D72DB-57BA-9B8B-F533-F528C5B7FF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2D6D18-755D-15B4-17C9-668167E76DE0}"/>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32461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ctrTitle"/>
          </p:nvPr>
        </p:nvSpPr>
        <p:spPr>
          <a:xfrm>
            <a:off x="4754879" y="2357120"/>
            <a:ext cx="8637271" cy="2905757"/>
          </a:xfrm>
        </p:spPr>
        <p:txBody>
          <a:bodyPr anchor="b">
            <a:normAutofit/>
          </a:bodyPr>
          <a:lstStyle>
            <a:lvl1pPr algn="r">
              <a:defRPr sz="5760">
                <a:effectLst/>
              </a:defRPr>
            </a:lvl1pPr>
          </a:lstStyle>
          <a:p>
            <a:r>
              <a:rPr lang="en-US"/>
              <a:t>Click to edit Master title style</a:t>
            </a:r>
            <a:endParaRPr lang="en-US" dirty="0"/>
          </a:p>
        </p:txBody>
      </p:sp>
      <p:sp>
        <p:nvSpPr>
          <p:cNvPr id="3" name="Subtitle 2"/>
          <p:cNvSpPr>
            <a:spLocks noGrp="1"/>
          </p:cNvSpPr>
          <p:nvPr>
            <p:ph type="subTitle" idx="1"/>
          </p:nvPr>
        </p:nvSpPr>
        <p:spPr>
          <a:xfrm>
            <a:off x="4754879" y="5262879"/>
            <a:ext cx="8637271" cy="1686560"/>
          </a:xfrm>
        </p:spPr>
        <p:txBody>
          <a:bodyPr anchor="t">
            <a:normAutofit/>
          </a:bodyPr>
          <a:lstStyle>
            <a:lvl1pPr marL="0" indent="0" algn="r">
              <a:buNone/>
              <a:defRPr sz="2160" cap="all">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0719070" y="7044691"/>
            <a:ext cx="1920240" cy="453390"/>
          </a:xfrm>
        </p:spPr>
        <p:txBody>
          <a:bodyPr/>
          <a:lstStyle/>
          <a:p>
            <a:fld id="{48A87A34-81AB-432B-8DAE-1953F412C126}" type="datetimeFigureOut">
              <a:rPr lang="en-US" smtClean="0"/>
              <a:t>12/22/2025</a:t>
            </a:fld>
            <a:endParaRPr lang="en-US" dirty="0"/>
          </a:p>
        </p:txBody>
      </p:sp>
      <p:sp>
        <p:nvSpPr>
          <p:cNvPr id="5" name="Footer Placeholder 4"/>
          <p:cNvSpPr>
            <a:spLocks noGrp="1"/>
          </p:cNvSpPr>
          <p:nvPr>
            <p:ph type="ftr" sz="quarter" idx="11"/>
          </p:nvPr>
        </p:nvSpPr>
        <p:spPr>
          <a:xfrm>
            <a:off x="4754879" y="7044691"/>
            <a:ext cx="5872750" cy="453390"/>
          </a:xfrm>
        </p:spPr>
        <p:txBody>
          <a:bodyPr/>
          <a:lstStyle/>
          <a:p>
            <a:endParaRPr lang="en-US" dirty="0"/>
          </a:p>
        </p:txBody>
      </p:sp>
      <p:sp>
        <p:nvSpPr>
          <p:cNvPr id="6" name="Slide Number Placeholder 5"/>
          <p:cNvSpPr>
            <a:spLocks noGrp="1"/>
          </p:cNvSpPr>
          <p:nvPr>
            <p:ph type="sldNum" sz="quarter" idx="12"/>
          </p:nvPr>
        </p:nvSpPr>
        <p:spPr>
          <a:xfrm>
            <a:off x="12730750" y="7044691"/>
            <a:ext cx="661400" cy="453390"/>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2552239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08033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1" y="3970297"/>
            <a:ext cx="12157712" cy="1762560"/>
          </a:xfrm>
        </p:spPr>
        <p:txBody>
          <a:bodyPr anchor="b"/>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822959" y="5732857"/>
            <a:ext cx="12157714" cy="1032480"/>
          </a:xfrm>
        </p:spPr>
        <p:txBody>
          <a:bodyPr anchor="t">
            <a:normAutofit/>
          </a:bodyPr>
          <a:lstStyle>
            <a:lvl1pPr marL="0" indent="0" algn="l">
              <a:buNone/>
              <a:defRPr sz="2400" cap="all">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7562873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2962" y="2570480"/>
            <a:ext cx="5994401" cy="437896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986274" y="2570481"/>
            <a:ext cx="5994398" cy="43789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5242783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68404" y="2661921"/>
            <a:ext cx="5650865" cy="691514"/>
          </a:xfrm>
        </p:spPr>
        <p:txBody>
          <a:bodyPr anchor="b">
            <a:no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22962" y="3444241"/>
            <a:ext cx="5996308" cy="35051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315204" y="2672081"/>
            <a:ext cx="5667376" cy="691514"/>
          </a:xfrm>
        </p:spPr>
        <p:txBody>
          <a:bodyPr anchor="b">
            <a:noAutofit/>
          </a:bodyPr>
          <a:lstStyle>
            <a:lvl1pPr marL="0" indent="0">
              <a:buNone/>
              <a:defRPr sz="33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988180" y="3444241"/>
            <a:ext cx="5994401" cy="35051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87604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34760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Date Placeholder 1"/>
          <p:cNvSpPr>
            <a:spLocks noGrp="1"/>
          </p:cNvSpPr>
          <p:nvPr>
            <p:ph type="dt" sz="half" idx="10"/>
          </p:nvPr>
        </p:nvSpPr>
        <p:spPr/>
        <p:txBody>
          <a:bodyPr/>
          <a:lstStyle/>
          <a:p>
            <a:fld id="{B8BDBF0D-D06A-4D54-BC22-1FD3E2A6001A}" type="datetimeFigureOut">
              <a:rPr lang="en-US" smtClean="0"/>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3231033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1" y="2489200"/>
            <a:ext cx="4417062" cy="1645920"/>
          </a:xfrm>
        </p:spPr>
        <p:txBody>
          <a:bodyPr anchor="b">
            <a:normAutofit/>
          </a:bodyPr>
          <a:lstStyle>
            <a:lvl1pPr algn="l">
              <a:defRPr sz="2880" b="0"/>
            </a:lvl1pPr>
          </a:lstStyle>
          <a:p>
            <a:r>
              <a:rPr lang="en-US"/>
              <a:t>Click to edit Master title style</a:t>
            </a:r>
            <a:endParaRPr lang="en-US" dirty="0"/>
          </a:p>
        </p:txBody>
      </p:sp>
      <p:sp>
        <p:nvSpPr>
          <p:cNvPr id="3" name="Content Placeholder 2"/>
          <p:cNvSpPr>
            <a:spLocks noGrp="1"/>
          </p:cNvSpPr>
          <p:nvPr>
            <p:ph idx="1"/>
          </p:nvPr>
        </p:nvSpPr>
        <p:spPr>
          <a:xfrm>
            <a:off x="5577841" y="731521"/>
            <a:ext cx="7402831" cy="621792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2961" y="4135120"/>
            <a:ext cx="4417062" cy="2194560"/>
          </a:xfrm>
        </p:spPr>
        <p:txBody>
          <a:bodyPr anchor="t">
            <a:normAutofit/>
          </a:bodyPr>
          <a:lstStyle>
            <a:lvl1pPr marL="0" indent="0">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405774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0" y="1920240"/>
            <a:ext cx="7397584" cy="1645920"/>
          </a:xfrm>
        </p:spPr>
        <p:txBody>
          <a:bodyPr anchor="b">
            <a:normAutofit/>
          </a:bodyPr>
          <a:lstStyle>
            <a:lvl1pPr algn="l">
              <a:defRPr sz="336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043504" y="1097280"/>
            <a:ext cx="3937169" cy="54864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22960" y="3566160"/>
            <a:ext cx="7397584" cy="2194560"/>
          </a:xfrm>
        </p:spPr>
        <p:txBody>
          <a:bodyPr anchor="t">
            <a:normAutofit/>
          </a:bodyPr>
          <a:lstStyle>
            <a:lvl1pPr marL="0" indent="0">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8839641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1" y="5679438"/>
            <a:ext cx="12157712" cy="680086"/>
          </a:xfrm>
        </p:spPr>
        <p:txBody>
          <a:bodyPr anchor="b">
            <a:normAutofit/>
          </a:bodyPr>
          <a:lstStyle>
            <a:lvl1pPr algn="l">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45921" y="1118535"/>
            <a:ext cx="10511792" cy="3797971"/>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822961" y="6359524"/>
            <a:ext cx="12157712" cy="592454"/>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8683369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2" y="731522"/>
            <a:ext cx="12157712" cy="3749039"/>
          </a:xfrm>
        </p:spPr>
        <p:txBody>
          <a:bodyPr anchor="ctr">
            <a:normAutofit/>
          </a:bodyPr>
          <a:lstStyle>
            <a:lvl1pPr algn="l">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822960" y="5212080"/>
            <a:ext cx="12157714" cy="1737360"/>
          </a:xfrm>
        </p:spPr>
        <p:txBody>
          <a:bodyPr anchor="ctr">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006414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15" name="TextBox 14"/>
          <p:cNvSpPr txBox="1"/>
          <p:nvPr/>
        </p:nvSpPr>
        <p:spPr>
          <a:xfrm>
            <a:off x="12285440"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11" name="TextBox 10"/>
          <p:cNvSpPr txBox="1"/>
          <p:nvPr/>
        </p:nvSpPr>
        <p:spPr>
          <a:xfrm>
            <a:off x="585930" y="988005"/>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2" name="Title 1"/>
          <p:cNvSpPr>
            <a:spLocks noGrp="1"/>
          </p:cNvSpPr>
          <p:nvPr>
            <p:ph type="title"/>
          </p:nvPr>
        </p:nvSpPr>
        <p:spPr>
          <a:xfrm>
            <a:off x="1190721" y="731522"/>
            <a:ext cx="11460479" cy="3291839"/>
          </a:xfrm>
        </p:spPr>
        <p:txBody>
          <a:bodyPr anchor="ctr">
            <a:normAutofit/>
          </a:bodyPr>
          <a:lstStyle>
            <a:lvl1pPr algn="l">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317450" y="4023360"/>
            <a:ext cx="11207021" cy="457200"/>
          </a:xfrm>
        </p:spPr>
        <p:txBody>
          <a:bodyPr anchor="ctr"/>
          <a:lstStyle>
            <a:lvl1pPr marL="0" indent="0">
              <a:buFontTx/>
              <a:buNone/>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824959" y="5212080"/>
            <a:ext cx="12182840" cy="1737360"/>
          </a:xfrm>
        </p:spPr>
        <p:txBody>
          <a:bodyPr anchor="ctr">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4991733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3" y="3970297"/>
            <a:ext cx="12157710" cy="1762560"/>
          </a:xfrm>
        </p:spPr>
        <p:txBody>
          <a:bodyPr anchor="b">
            <a:normAutofit/>
          </a:bodyPr>
          <a:lstStyle>
            <a:lvl1pPr algn="l">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822961" y="5732857"/>
            <a:ext cx="12157711" cy="1032480"/>
          </a:xfrm>
        </p:spPr>
        <p:txBody>
          <a:bodyPr anchor="t">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426834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13" name="TextBox 12"/>
          <p:cNvSpPr txBox="1"/>
          <p:nvPr/>
        </p:nvSpPr>
        <p:spPr>
          <a:xfrm>
            <a:off x="12285440"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14" name="TextBox 13"/>
          <p:cNvSpPr txBox="1"/>
          <p:nvPr/>
        </p:nvSpPr>
        <p:spPr>
          <a:xfrm>
            <a:off x="585930" y="988005"/>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16" name="Title 1"/>
          <p:cNvSpPr>
            <a:spLocks noGrp="1"/>
          </p:cNvSpPr>
          <p:nvPr>
            <p:ph type="title"/>
          </p:nvPr>
        </p:nvSpPr>
        <p:spPr>
          <a:xfrm>
            <a:off x="1190721" y="731522"/>
            <a:ext cx="11460479" cy="3291839"/>
          </a:xfrm>
        </p:spPr>
        <p:txBody>
          <a:bodyPr anchor="ctr">
            <a:normAutofit/>
          </a:bodyPr>
          <a:lstStyle>
            <a:lvl1pPr algn="l">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22960" y="4663440"/>
            <a:ext cx="12162523" cy="1066800"/>
          </a:xfrm>
        </p:spPr>
        <p:txBody>
          <a:bodyPr vert="horz" lIns="91440" tIns="45720" rIns="91440" bIns="45720" rtlCol="0" anchor="b">
            <a:normAutofit/>
          </a:bodyPr>
          <a:lstStyle>
            <a:lvl1pPr>
              <a:buNone/>
              <a:defRPr lang="en-US" sz="288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22959" y="5730240"/>
            <a:ext cx="12162523" cy="121920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9062687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a:xfrm>
            <a:off x="822962" y="731522"/>
            <a:ext cx="12157712" cy="329183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22961" y="4206240"/>
            <a:ext cx="12157714" cy="1005840"/>
          </a:xfrm>
        </p:spPr>
        <p:txBody>
          <a:bodyPr vert="horz" lIns="91440" tIns="45720" rIns="91440" bIns="45720" rtlCol="0" anchor="b">
            <a:normAutofit/>
          </a:bodyPr>
          <a:lstStyle>
            <a:lvl1pPr>
              <a:buNone/>
              <a:defRPr lang="en-US" sz="336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22960" y="5212080"/>
            <a:ext cx="12157714" cy="173736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62332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8" name="Title 1"/>
          <p:cNvSpPr>
            <a:spLocks noGrp="1"/>
          </p:cNvSpPr>
          <p:nvPr>
            <p:ph type="title"/>
          </p:nvPr>
        </p:nvSpPr>
        <p:spPr>
          <a:xfrm>
            <a:off x="822962" y="731521"/>
            <a:ext cx="12157710" cy="1747520"/>
          </a:xfrm>
        </p:spPr>
        <p:txBody>
          <a:bodyPr/>
          <a:lstStyle/>
          <a:p>
            <a:r>
              <a:rPr lang="en-US"/>
              <a:t>Click to edit Master title style</a:t>
            </a:r>
            <a:endParaRPr lang="en-US" dirty="0"/>
          </a:p>
        </p:txBody>
      </p:sp>
    </p:spTree>
    <p:extLst>
      <p:ext uri="{BB962C8B-B14F-4D97-AF65-F5344CB8AC3E}">
        <p14:creationId xmlns:p14="http://schemas.microsoft.com/office/powerpoint/2010/main" val="7967154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Vertical Title 1"/>
          <p:cNvSpPr>
            <a:spLocks noGrp="1"/>
          </p:cNvSpPr>
          <p:nvPr>
            <p:ph type="title" orient="vert"/>
          </p:nvPr>
        </p:nvSpPr>
        <p:spPr>
          <a:xfrm>
            <a:off x="10390410" y="731520"/>
            <a:ext cx="2590262" cy="62179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22960" y="731520"/>
            <a:ext cx="9398539" cy="621792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183665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80666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062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09007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932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2962" y="731521"/>
            <a:ext cx="12157710" cy="174752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2962" y="2570481"/>
            <a:ext cx="12157710" cy="4378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07592" y="7044691"/>
            <a:ext cx="1920240" cy="45339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48A87A34-81AB-432B-8DAE-1953F412C126}" type="datetimeFigureOut">
              <a:rPr lang="en-US" smtClean="0"/>
              <a:pPr/>
              <a:t>12/22/2025</a:t>
            </a:fld>
            <a:endParaRPr lang="en-US" dirty="0"/>
          </a:p>
        </p:txBody>
      </p:sp>
      <p:sp>
        <p:nvSpPr>
          <p:cNvPr id="5" name="Footer Placeholder 4"/>
          <p:cNvSpPr>
            <a:spLocks noGrp="1"/>
          </p:cNvSpPr>
          <p:nvPr>
            <p:ph type="ftr" sz="quarter" idx="3"/>
          </p:nvPr>
        </p:nvSpPr>
        <p:spPr>
          <a:xfrm>
            <a:off x="822961" y="7044691"/>
            <a:ext cx="9393191" cy="45339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2319273" y="7044691"/>
            <a:ext cx="661400" cy="45339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86337895"/>
      </p:ext>
    </p:extLst>
  </p:cSld>
  <p:clrMap bg1="dk1" tx1="lt1" bg2="dk2" tx2="lt2" accent1="accent1" accent2="accent2" accent3="accent3" accent4="accent4" accent5="accent5" accent6="accent6" hlink="hlink" folHlink="folHlink"/>
  <p:sldLayoutIdLst>
    <p:sldLayoutId id="2147484473" r:id="rId1"/>
    <p:sldLayoutId id="2147484474" r:id="rId2"/>
    <p:sldLayoutId id="2147484475" r:id="rId3"/>
    <p:sldLayoutId id="2147484476" r:id="rId4"/>
    <p:sldLayoutId id="2147484477" r:id="rId5"/>
    <p:sldLayoutId id="2147484478" r:id="rId6"/>
    <p:sldLayoutId id="2147484479" r:id="rId7"/>
    <p:sldLayoutId id="2147484480" r:id="rId8"/>
    <p:sldLayoutId id="2147484481" r:id="rId9"/>
    <p:sldLayoutId id="2147484482" r:id="rId10"/>
    <p:sldLayoutId id="2147484483" r:id="rId11"/>
    <p:sldLayoutId id="2147484484" r:id="rId12"/>
    <p:sldLayoutId id="2147484485" r:id="rId13"/>
    <p:sldLayoutId id="2147484486" r:id="rId14"/>
    <p:sldLayoutId id="2147484487" r:id="rId15"/>
    <p:sldLayoutId id="2147484488" r:id="rId16"/>
    <p:sldLayoutId id="2147484489" r:id="rId17"/>
    <p:sldLayoutId id="2147484490" r:id="rId18"/>
    <p:sldLayoutId id="2147484491" r:id="rId19"/>
    <p:sldLayoutId id="2147484492" r:id="rId20"/>
    <p:sldLayoutId id="2147484493" r:id="rId21"/>
  </p:sldLayoutIdLst>
  <p:hf sldNum="0" hdr="0" ftr="0" dt="0"/>
  <p:txStyles>
    <p:titleStyle>
      <a:lvl1pPr algn="l" defTabSz="548640" rtl="0" eaLnBrk="1" latinLnBrk="0" hangingPunct="1">
        <a:spcBef>
          <a:spcPct val="0"/>
        </a:spcBef>
        <a:buNone/>
        <a:defRPr sz="432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ts val="0"/>
        </a:spcBef>
        <a:spcAft>
          <a:spcPts val="1200"/>
        </a:spcAft>
        <a:buClr>
          <a:schemeClr val="tx1"/>
        </a:buClr>
        <a:buSzPct val="100000"/>
        <a:buFont typeface="Arial"/>
        <a:buChar char="•"/>
        <a:defRPr sz="2160" kern="1200" cap="none">
          <a:solidFill>
            <a:schemeClr val="tx1"/>
          </a:solidFill>
          <a:effectLst/>
          <a:latin typeface="+mn-lt"/>
          <a:ea typeface="+mn-ea"/>
          <a:cs typeface="+mn-cs"/>
        </a:defRPr>
      </a:lvl1pPr>
      <a:lvl2pPr marL="891540" indent="-342900" algn="l" defTabSz="548640" rtl="0" eaLnBrk="1" latinLnBrk="0" hangingPunct="1">
        <a:spcBef>
          <a:spcPts val="0"/>
        </a:spcBef>
        <a:spcAft>
          <a:spcPts val="1200"/>
        </a:spcAft>
        <a:buClr>
          <a:schemeClr val="tx1"/>
        </a:buClr>
        <a:buSzPct val="100000"/>
        <a:buFont typeface="Arial"/>
        <a:buChar char="•"/>
        <a:defRPr sz="1920" kern="1200" cap="none">
          <a:solidFill>
            <a:schemeClr val="tx1"/>
          </a:solidFill>
          <a:effectLst/>
          <a:latin typeface="+mn-lt"/>
          <a:ea typeface="+mn-ea"/>
          <a:cs typeface="+mn-cs"/>
        </a:defRPr>
      </a:lvl2pPr>
      <a:lvl3pPr marL="1440180" indent="-342900" algn="l" defTabSz="548640" rtl="0" eaLnBrk="1" latinLnBrk="0" hangingPunct="1">
        <a:spcBef>
          <a:spcPts val="0"/>
        </a:spcBef>
        <a:spcAft>
          <a:spcPts val="1200"/>
        </a:spcAft>
        <a:buClr>
          <a:schemeClr val="tx1"/>
        </a:buClr>
        <a:buSzPct val="100000"/>
        <a:buFont typeface="Arial"/>
        <a:buChar char="•"/>
        <a:defRPr sz="1680" kern="1200" cap="none">
          <a:solidFill>
            <a:schemeClr val="tx1"/>
          </a:solidFill>
          <a:effectLst/>
          <a:latin typeface="+mn-lt"/>
          <a:ea typeface="+mn-ea"/>
          <a:cs typeface="+mn-cs"/>
        </a:defRPr>
      </a:lvl3pPr>
      <a:lvl4pPr marL="1851660" indent="-20574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4pPr>
      <a:lvl5pPr marL="2400300" indent="-20574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5pPr>
      <a:lvl6pPr marL="301752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6pPr>
      <a:lvl7pPr marL="356616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7pPr>
      <a:lvl8pPr marL="411480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8pPr>
      <a:lvl9pPr marL="4663440" indent="-274320" algn="l" defTabSz="548640" rtl="0" eaLnBrk="1" latinLnBrk="0" hangingPunct="1">
        <a:spcBef>
          <a:spcPts val="0"/>
        </a:spcBef>
        <a:spcAft>
          <a:spcPts val="1200"/>
        </a:spcAft>
        <a:buClr>
          <a:schemeClr val="tx1"/>
        </a:buClr>
        <a:buSzPct val="100000"/>
        <a:buFont typeface="Arial"/>
        <a:buChar char="•"/>
        <a:defRPr sz="1440" kern="1200" cap="none">
          <a:solidFill>
            <a:schemeClr val="tx1"/>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710A841-22EF-25BC-CDCD-F79586A3D842}"/>
              </a:ext>
            </a:extLst>
          </p:cNvPr>
          <p:cNvSpPr txBox="1"/>
          <p:nvPr/>
        </p:nvSpPr>
        <p:spPr>
          <a:xfrm>
            <a:off x="4917334" y="4489986"/>
            <a:ext cx="6640078" cy="5078313"/>
          </a:xfrm>
          <a:prstGeom prst="rect">
            <a:avLst/>
          </a:prstGeom>
          <a:noFill/>
        </p:spPr>
        <p:txBody>
          <a:bodyPr wrap="square" rtlCol="0">
            <a:spAutoFit/>
          </a:bodyPr>
          <a:lstStyle/>
          <a:p>
            <a:endParaRPr lang="en-US" sz="2160" b="1" dirty="0"/>
          </a:p>
          <a:p>
            <a:r>
              <a:rPr lang="en-US" sz="2160" dirty="0"/>
              <a:t> </a:t>
            </a:r>
          </a:p>
          <a:p>
            <a:r>
              <a:rPr lang="en-US" sz="2160" b="1" dirty="0"/>
              <a:t>        A.SATHWIKA      (22F01A4202)</a:t>
            </a:r>
          </a:p>
          <a:p>
            <a:r>
              <a:rPr lang="en-US" sz="2160" b="1" dirty="0"/>
              <a:t>        D.VISHNU PRIYA (22F01A4213)</a:t>
            </a:r>
          </a:p>
          <a:p>
            <a:r>
              <a:rPr lang="en-US" sz="2160" b="1" dirty="0"/>
              <a:t>        K.AVANTHI          (22F01A4227)</a:t>
            </a:r>
          </a:p>
          <a:p>
            <a:r>
              <a:rPr lang="en-US" sz="2160" b="1" dirty="0"/>
              <a:t>        B.V.L.SAAHITHI  (22F01A4207)</a:t>
            </a:r>
          </a:p>
          <a:p>
            <a:endParaRPr lang="en-US" sz="2160" b="1" dirty="0"/>
          </a:p>
          <a:p>
            <a:endParaRPr lang="en-US" sz="2160" b="1" dirty="0"/>
          </a:p>
          <a:p>
            <a:endParaRPr lang="en-US" sz="2160" b="1" dirty="0"/>
          </a:p>
          <a:p>
            <a:endParaRPr lang="en-US" sz="2160" b="1" dirty="0"/>
          </a:p>
          <a:p>
            <a:endParaRPr lang="en-US" sz="2160" b="1" dirty="0"/>
          </a:p>
          <a:p>
            <a:endParaRPr lang="en-US" sz="2160" b="1" dirty="0"/>
          </a:p>
          <a:p>
            <a:endParaRPr lang="en-US" sz="2160" b="1" dirty="0"/>
          </a:p>
          <a:p>
            <a:endParaRPr lang="en-US" sz="2160" b="1" dirty="0"/>
          </a:p>
          <a:p>
            <a:r>
              <a:rPr lang="en-US" sz="2160" dirty="0"/>
              <a:t>                                         </a:t>
            </a:r>
          </a:p>
        </p:txBody>
      </p:sp>
      <p:sp>
        <p:nvSpPr>
          <p:cNvPr id="14" name="TextBox 13">
            <a:extLst>
              <a:ext uri="{FF2B5EF4-FFF2-40B4-BE49-F238E27FC236}">
                <a16:creationId xmlns:a16="http://schemas.microsoft.com/office/drawing/2014/main" id="{91946831-1F41-772D-8E4D-2FC32DEE4CA2}"/>
              </a:ext>
            </a:extLst>
          </p:cNvPr>
          <p:cNvSpPr txBox="1"/>
          <p:nvPr/>
        </p:nvSpPr>
        <p:spPr>
          <a:xfrm>
            <a:off x="137786" y="4010590"/>
            <a:ext cx="14267147" cy="861774"/>
          </a:xfrm>
          <a:prstGeom prst="rect">
            <a:avLst/>
          </a:prstGeom>
          <a:noFill/>
        </p:spPr>
        <p:txBody>
          <a:bodyPr wrap="square">
            <a:spAutoFit/>
          </a:bodyPr>
          <a:lstStyle/>
          <a:p>
            <a:pPr algn="ctr"/>
            <a:r>
              <a:rPr lang="en-US" sz="2500" b="1" dirty="0">
                <a:solidFill>
                  <a:srgbClr val="FF0000"/>
                </a:solidFill>
                <a:latin typeface="Imprint MT Shadow" panose="04020605060303030202" pitchFamily="82" charset="0"/>
              </a:rPr>
              <a:t>Railway Track Fall Detection System Using Region Based Convolutional Neural Networks For Infrastructure Safety</a:t>
            </a:r>
          </a:p>
        </p:txBody>
      </p:sp>
      <p:sp>
        <p:nvSpPr>
          <p:cNvPr id="15" name="TextBox 14">
            <a:extLst>
              <a:ext uri="{FF2B5EF4-FFF2-40B4-BE49-F238E27FC236}">
                <a16:creationId xmlns:a16="http://schemas.microsoft.com/office/drawing/2014/main" id="{763E526D-8185-94A4-7430-2B4BC6E52C4A}"/>
              </a:ext>
            </a:extLst>
          </p:cNvPr>
          <p:cNvSpPr txBox="1"/>
          <p:nvPr/>
        </p:nvSpPr>
        <p:spPr>
          <a:xfrm>
            <a:off x="3441639" y="1372378"/>
            <a:ext cx="9591466" cy="830997"/>
          </a:xfrm>
          <a:prstGeom prst="rect">
            <a:avLst/>
          </a:prstGeom>
          <a:noFill/>
        </p:spPr>
        <p:txBody>
          <a:bodyPr wrap="square" rtlCol="0">
            <a:spAutoFit/>
          </a:bodyPr>
          <a:lstStyle/>
          <a:p>
            <a:r>
              <a:rPr lang="en-US" sz="2400" b="1" dirty="0">
                <a:solidFill>
                  <a:schemeClr val="tx2">
                    <a:lumMod val="50000"/>
                  </a:schemeClr>
                </a:solidFill>
              </a:rPr>
              <a:t>                                        </a:t>
            </a:r>
            <a:r>
              <a:rPr lang="en-US" sz="2400" b="1" dirty="0">
                <a:solidFill>
                  <a:srgbClr val="FF0000"/>
                </a:solidFill>
              </a:rPr>
              <a:t>DEPARTMENT OF</a:t>
            </a:r>
          </a:p>
          <a:p>
            <a:r>
              <a:rPr lang="en-US" sz="2400" b="1" dirty="0">
                <a:solidFill>
                  <a:srgbClr val="FF0000"/>
                </a:solidFill>
              </a:rPr>
              <a:t>   CSE-ARTIFICIAL INTELLIGENCE &amp; MACHINE LEARNING</a:t>
            </a:r>
          </a:p>
        </p:txBody>
      </p:sp>
      <p:sp>
        <p:nvSpPr>
          <p:cNvPr id="17" name="TextBox 16">
            <a:extLst>
              <a:ext uri="{FF2B5EF4-FFF2-40B4-BE49-F238E27FC236}">
                <a16:creationId xmlns:a16="http://schemas.microsoft.com/office/drawing/2014/main" id="{CB4A102B-2FF4-7E38-2632-3FC6AEF3F58B}"/>
              </a:ext>
            </a:extLst>
          </p:cNvPr>
          <p:cNvSpPr txBox="1"/>
          <p:nvPr/>
        </p:nvSpPr>
        <p:spPr>
          <a:xfrm>
            <a:off x="6108189" y="4811917"/>
            <a:ext cx="4061251" cy="424732"/>
          </a:xfrm>
          <a:prstGeom prst="rect">
            <a:avLst/>
          </a:prstGeom>
          <a:noFill/>
        </p:spPr>
        <p:txBody>
          <a:bodyPr wrap="square" rtlCol="0">
            <a:spAutoFit/>
          </a:bodyPr>
          <a:lstStyle/>
          <a:p>
            <a:r>
              <a:rPr lang="en-US" sz="2160" dirty="0">
                <a:latin typeface="Arial Rounded MT Bold" panose="020F0704030504030204" pitchFamily="34" charset="0"/>
              </a:rPr>
              <a:t>PRESENTED BY </a:t>
            </a:r>
            <a:endParaRPr lang="en-US" sz="2160" dirty="0"/>
          </a:p>
        </p:txBody>
      </p:sp>
      <p:sp>
        <p:nvSpPr>
          <p:cNvPr id="3" name="TextBox 2">
            <a:extLst>
              <a:ext uri="{FF2B5EF4-FFF2-40B4-BE49-F238E27FC236}">
                <a16:creationId xmlns:a16="http://schemas.microsoft.com/office/drawing/2014/main" id="{C8A98272-60F5-8AD7-10A8-B8FE25891C18}"/>
              </a:ext>
            </a:extLst>
          </p:cNvPr>
          <p:cNvSpPr txBox="1"/>
          <p:nvPr/>
        </p:nvSpPr>
        <p:spPr>
          <a:xfrm>
            <a:off x="853557" y="222940"/>
            <a:ext cx="12923287" cy="1532727"/>
          </a:xfrm>
          <a:prstGeom prst="rect">
            <a:avLst/>
          </a:prstGeom>
          <a:noFill/>
        </p:spPr>
        <p:txBody>
          <a:bodyPr wrap="square" rtlCol="0">
            <a:spAutoFit/>
          </a:bodyPr>
          <a:lstStyle/>
          <a:p>
            <a:pPr algn="ctr"/>
            <a:r>
              <a:rPr lang="en-US" sz="3600" b="1" dirty="0">
                <a:solidFill>
                  <a:srgbClr val="FF0000"/>
                </a:solidFill>
              </a:rPr>
              <a:t>ST ANN’S COLLEGE OF ENGINEERING &amp; TECHNOLOGY </a:t>
            </a:r>
          </a:p>
          <a:p>
            <a:pPr algn="ctr"/>
            <a:r>
              <a:rPr lang="en-US" sz="3600" b="1" dirty="0">
                <a:solidFill>
                  <a:srgbClr val="FF0000"/>
                </a:solidFill>
              </a:rPr>
              <a:t>AUTONOMOUS</a:t>
            </a:r>
          </a:p>
          <a:p>
            <a:endParaRPr lang="en-US" sz="2160" dirty="0"/>
          </a:p>
        </p:txBody>
      </p:sp>
      <p:sp>
        <p:nvSpPr>
          <p:cNvPr id="8" name="TextBox 7">
            <a:extLst>
              <a:ext uri="{FF2B5EF4-FFF2-40B4-BE49-F238E27FC236}">
                <a16:creationId xmlns:a16="http://schemas.microsoft.com/office/drawing/2014/main" id="{E2147F0C-AB35-7A83-3CFD-13094AAB7ECF}"/>
              </a:ext>
            </a:extLst>
          </p:cNvPr>
          <p:cNvSpPr txBox="1"/>
          <p:nvPr/>
        </p:nvSpPr>
        <p:spPr>
          <a:xfrm>
            <a:off x="4118045" y="6838346"/>
            <a:ext cx="6999178" cy="1286506"/>
          </a:xfrm>
          <a:prstGeom prst="rect">
            <a:avLst/>
          </a:prstGeom>
          <a:noFill/>
        </p:spPr>
        <p:txBody>
          <a:bodyPr wrap="square" rtlCol="0">
            <a:spAutoFit/>
          </a:bodyPr>
          <a:lstStyle/>
          <a:p>
            <a:r>
              <a:rPr lang="en-US" sz="2160" dirty="0">
                <a:latin typeface="Arial Rounded MT Bold" panose="020F0704030504030204" pitchFamily="34" charset="0"/>
              </a:rPr>
              <a:t>                   UNDER THE GUIDANCE OF</a:t>
            </a:r>
          </a:p>
          <a:p>
            <a:r>
              <a:rPr lang="en-US" sz="2160" dirty="0">
                <a:latin typeface="Arial Rounded MT Bold" panose="020F0704030504030204" pitchFamily="34" charset="0"/>
              </a:rPr>
              <a:t>            </a:t>
            </a:r>
            <a:r>
              <a:rPr lang="en-US" sz="2500" b="1" dirty="0">
                <a:solidFill>
                  <a:srgbClr val="FF0000"/>
                </a:solidFill>
                <a:latin typeface="Arial Rounded MT Bold" panose="020F0704030504030204" pitchFamily="34" charset="0"/>
              </a:rPr>
              <a:t>Dr. P. S. NAVEEN KUMAR, </a:t>
            </a:r>
            <a:r>
              <a:rPr lang="en-US" sz="2500" b="1" err="1">
                <a:solidFill>
                  <a:srgbClr val="FF0000"/>
                </a:solidFill>
                <a:latin typeface="Arial Rounded MT Bold" panose="020F0704030504030204" pitchFamily="34" charset="0"/>
              </a:rPr>
              <a:t>Ph</a:t>
            </a:r>
            <a:r>
              <a:rPr lang="en-US" sz="2500" b="1">
                <a:solidFill>
                  <a:srgbClr val="FF0000"/>
                </a:solidFill>
                <a:latin typeface="Arial Rounded MT Bold" panose="020F0704030504030204" pitchFamily="34" charset="0"/>
              </a:rPr>
              <a:t>. D</a:t>
            </a:r>
            <a:endParaRPr lang="en-US" sz="2500" b="1" dirty="0">
              <a:solidFill>
                <a:srgbClr val="FF0000"/>
              </a:solidFill>
            </a:endParaRPr>
          </a:p>
          <a:p>
            <a:r>
              <a:rPr lang="en-US" sz="2800" dirty="0"/>
              <a:t>                 </a:t>
            </a:r>
            <a:r>
              <a:rPr lang="en-US" sz="2800" b="1" dirty="0"/>
              <a:t>ASSOCIATE PROFESSOR</a:t>
            </a:r>
            <a:endParaRPr lang="en-US" sz="2800" b="1" dirty="0">
              <a:solidFill>
                <a:schemeClr val="tx2">
                  <a:lumMod val="75000"/>
                </a:schemeClr>
              </a:solidFill>
            </a:endParaRPr>
          </a:p>
        </p:txBody>
      </p:sp>
      <p:pic>
        <p:nvPicPr>
          <p:cNvPr id="9" name="Picture 8">
            <a:extLst>
              <a:ext uri="{FF2B5EF4-FFF2-40B4-BE49-F238E27FC236}">
                <a16:creationId xmlns:a16="http://schemas.microsoft.com/office/drawing/2014/main" id="{70EC983F-39B0-EF0B-F911-8A89648FB9F9}"/>
              </a:ext>
            </a:extLst>
          </p:cNvPr>
          <p:cNvPicPr>
            <a:picLocks noChangeAspect="1"/>
          </p:cNvPicPr>
          <p:nvPr/>
        </p:nvPicPr>
        <p:blipFill>
          <a:blip r:embed="rId2"/>
          <a:stretch>
            <a:fillRect/>
          </a:stretch>
        </p:blipFill>
        <p:spPr>
          <a:xfrm>
            <a:off x="6108189" y="2158613"/>
            <a:ext cx="2414021" cy="1928427"/>
          </a:xfrm>
          <a:prstGeom prst="rect">
            <a:avLst/>
          </a:prstGeom>
        </p:spPr>
      </p:pic>
    </p:spTree>
    <p:extLst>
      <p:ext uri="{BB962C8B-B14F-4D97-AF65-F5344CB8AC3E}">
        <p14:creationId xmlns:p14="http://schemas.microsoft.com/office/powerpoint/2010/main" val="720753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6C0263-CEAD-1EB8-A332-C911357AC1D2}"/>
              </a:ext>
            </a:extLst>
          </p:cNvPr>
          <p:cNvSpPr txBox="1"/>
          <p:nvPr/>
        </p:nvSpPr>
        <p:spPr>
          <a:xfrm>
            <a:off x="2085905" y="585584"/>
            <a:ext cx="9841974" cy="7269682"/>
          </a:xfrm>
          <a:prstGeom prst="rect">
            <a:avLst/>
          </a:prstGeom>
          <a:noFill/>
        </p:spPr>
        <p:txBody>
          <a:bodyPr wrap="square" rtlCol="0">
            <a:spAutoFit/>
          </a:bodyPr>
          <a:lstStyle/>
          <a:p>
            <a:pPr marL="342900" indent="-342900">
              <a:buFont typeface="Arial" panose="020B0604020202020204" pitchFamily="34" charset="0"/>
              <a:buChar char="•"/>
            </a:pPr>
            <a:endParaRPr lang="en-US" sz="5280" b="1" dirty="0">
              <a:latin typeface="Aptos Display" panose="020B0004020202020204" pitchFamily="34" charset="0"/>
            </a:endParaRPr>
          </a:p>
          <a:p>
            <a:pPr marL="571500" indent="-571500">
              <a:buFont typeface="Courier New" panose="02070309020205020404" pitchFamily="49" charset="0"/>
              <a:buChar char="o"/>
            </a:pPr>
            <a:r>
              <a:rPr lang="en-US" sz="3000" dirty="0"/>
              <a:t>Abstract</a:t>
            </a:r>
          </a:p>
          <a:p>
            <a:pPr marL="571500" indent="-571500">
              <a:buFont typeface="Courier New" panose="02070309020205020404" pitchFamily="49" charset="0"/>
              <a:buChar char="o"/>
            </a:pPr>
            <a:r>
              <a:rPr lang="en-US" sz="3000" dirty="0"/>
              <a:t>Introduction</a:t>
            </a:r>
          </a:p>
          <a:p>
            <a:pPr marL="571500" indent="-571500">
              <a:buFont typeface="Courier New" panose="02070309020205020404" pitchFamily="49" charset="0"/>
              <a:buChar char="o"/>
            </a:pPr>
            <a:r>
              <a:rPr lang="en-US" sz="3000" dirty="0"/>
              <a:t>Objective</a:t>
            </a:r>
          </a:p>
          <a:p>
            <a:pPr marL="571500" indent="-571500">
              <a:buFont typeface="Courier New" panose="02070309020205020404" pitchFamily="49" charset="0"/>
              <a:buChar char="o"/>
            </a:pPr>
            <a:r>
              <a:rPr lang="en-US" sz="3000" dirty="0"/>
              <a:t>Existing System</a:t>
            </a:r>
          </a:p>
          <a:p>
            <a:pPr marL="571500" indent="-571500">
              <a:buFont typeface="Courier New" panose="02070309020205020404" pitchFamily="49" charset="0"/>
              <a:buChar char="o"/>
            </a:pPr>
            <a:r>
              <a:rPr lang="en-US" sz="3000" dirty="0"/>
              <a:t>Proposed Approach using RCNN</a:t>
            </a:r>
          </a:p>
          <a:p>
            <a:pPr marL="571500" indent="-571500">
              <a:buFont typeface="Courier New" panose="02070309020205020404" pitchFamily="49" charset="0"/>
              <a:buChar char="o"/>
            </a:pPr>
            <a:r>
              <a:rPr lang="en-US" sz="3000" dirty="0"/>
              <a:t>Modules Description</a:t>
            </a:r>
          </a:p>
          <a:p>
            <a:pPr marL="571500" indent="-571500">
              <a:buFont typeface="Courier New" panose="02070309020205020404" pitchFamily="49" charset="0"/>
              <a:buChar char="o"/>
            </a:pPr>
            <a:r>
              <a:rPr lang="en-US" sz="3000" dirty="0"/>
              <a:t>Hardware and Software requirements</a:t>
            </a:r>
          </a:p>
          <a:p>
            <a:pPr marL="571500" indent="-571500">
              <a:buFont typeface="Courier New" panose="02070309020205020404" pitchFamily="49" charset="0"/>
              <a:buChar char="o"/>
            </a:pPr>
            <a:r>
              <a:rPr lang="en-US" sz="3000" dirty="0"/>
              <a:t>Algorithms Used</a:t>
            </a:r>
          </a:p>
          <a:p>
            <a:pPr marL="571500" indent="-571500">
              <a:buFont typeface="Courier New" panose="02070309020205020404" pitchFamily="49" charset="0"/>
              <a:buChar char="o"/>
            </a:pPr>
            <a:r>
              <a:rPr lang="en-US" sz="3000" dirty="0"/>
              <a:t>Implementation </a:t>
            </a:r>
          </a:p>
          <a:p>
            <a:pPr marL="571500" indent="-571500">
              <a:buFont typeface="Courier New" panose="02070309020205020404" pitchFamily="49" charset="0"/>
              <a:buChar char="o"/>
            </a:pPr>
            <a:r>
              <a:rPr lang="en-US" sz="3000"/>
              <a:t>Testing</a:t>
            </a:r>
            <a:endParaRPr lang="en-US" sz="3000" dirty="0"/>
          </a:p>
          <a:p>
            <a:pPr marL="571500" indent="-571500">
              <a:buFont typeface="Courier New" panose="02070309020205020404" pitchFamily="49" charset="0"/>
              <a:buChar char="o"/>
            </a:pPr>
            <a:r>
              <a:rPr lang="en-US" sz="3000" dirty="0"/>
              <a:t>Results</a:t>
            </a:r>
          </a:p>
          <a:p>
            <a:pPr marL="571500" indent="-571500">
              <a:buFont typeface="Courier New" panose="02070309020205020404" pitchFamily="49" charset="0"/>
              <a:buChar char="o"/>
            </a:pPr>
            <a:r>
              <a:rPr lang="en-US" sz="3000" dirty="0"/>
              <a:t>Conclusion </a:t>
            </a:r>
            <a:endParaRPr lang="en-US" sz="3200" dirty="0"/>
          </a:p>
          <a:p>
            <a:pPr marL="571500" indent="-571500">
              <a:buFont typeface="Wingdings" panose="05000000000000000000" pitchFamily="2" charset="2"/>
              <a:buChar char="v"/>
            </a:pPr>
            <a:endParaRPr lang="en-US" sz="3200" dirty="0"/>
          </a:p>
          <a:p>
            <a:pPr marL="342900" indent="-342900">
              <a:buFont typeface="Arial" panose="020B0604020202020204" pitchFamily="34" charset="0"/>
              <a:buChar char="•"/>
            </a:pPr>
            <a:endParaRPr lang="en-US" sz="2160" dirty="0"/>
          </a:p>
        </p:txBody>
      </p:sp>
      <p:sp>
        <p:nvSpPr>
          <p:cNvPr id="7" name="Rectangle 6">
            <a:extLst>
              <a:ext uri="{FF2B5EF4-FFF2-40B4-BE49-F238E27FC236}">
                <a16:creationId xmlns:a16="http://schemas.microsoft.com/office/drawing/2014/main" id="{78377E0A-9545-C286-A1F1-110EB7FF60D5}"/>
              </a:ext>
            </a:extLst>
          </p:cNvPr>
          <p:cNvSpPr/>
          <p:nvPr/>
        </p:nvSpPr>
        <p:spPr>
          <a:xfrm>
            <a:off x="3332749" y="443551"/>
            <a:ext cx="7724273" cy="761953"/>
          </a:xfrm>
          <a:prstGeom prst="rect">
            <a:avLst/>
          </a:prstGeom>
          <a:ln>
            <a:solidFill>
              <a:schemeClr val="accent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dirty="0">
              <a:solidFill>
                <a:srgbClr val="FF0000"/>
              </a:solidFill>
              <a:highlight>
                <a:srgbClr val="FFFF00"/>
              </a:highlight>
            </a:endParaRPr>
          </a:p>
        </p:txBody>
      </p:sp>
      <p:sp>
        <p:nvSpPr>
          <p:cNvPr id="5" name="TextBox 4">
            <a:extLst>
              <a:ext uri="{FF2B5EF4-FFF2-40B4-BE49-F238E27FC236}">
                <a16:creationId xmlns:a16="http://schemas.microsoft.com/office/drawing/2014/main" id="{8CE9305B-A937-31E9-431F-F05AA4FF940F}"/>
              </a:ext>
            </a:extLst>
          </p:cNvPr>
          <p:cNvSpPr txBox="1"/>
          <p:nvPr/>
        </p:nvSpPr>
        <p:spPr>
          <a:xfrm>
            <a:off x="4995747" y="501363"/>
            <a:ext cx="7995424" cy="646331"/>
          </a:xfrm>
          <a:prstGeom prst="rect">
            <a:avLst/>
          </a:prstGeom>
          <a:noFill/>
        </p:spPr>
        <p:txBody>
          <a:bodyPr wrap="square" rtlCol="0">
            <a:spAutoFit/>
          </a:bodyPr>
          <a:lstStyle/>
          <a:p>
            <a:r>
              <a:rPr lang="en-IN" sz="3600" b="1" dirty="0"/>
              <a:t>TABLE OF CONTENTS</a:t>
            </a:r>
          </a:p>
        </p:txBody>
      </p:sp>
    </p:spTree>
    <p:extLst>
      <p:ext uri="{BB962C8B-B14F-4D97-AF65-F5344CB8AC3E}">
        <p14:creationId xmlns:p14="http://schemas.microsoft.com/office/powerpoint/2010/main" val="1619640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stretch>
            <a:fillRect/>
          </a:stretch>
        </p:blipFill>
        <p:spPr>
          <a:xfrm>
            <a:off x="0" y="0"/>
            <a:ext cx="5486400" cy="8229600"/>
          </a:xfrm>
          <a:prstGeom prst="rect">
            <a:avLst/>
          </a:prstGeom>
        </p:spPr>
      </p:pic>
      <p:sp>
        <p:nvSpPr>
          <p:cNvPr id="3" name="Text 0"/>
          <p:cNvSpPr/>
          <p:nvPr/>
        </p:nvSpPr>
        <p:spPr>
          <a:xfrm>
            <a:off x="6179757" y="1628696"/>
            <a:ext cx="7415927" cy="2004060"/>
          </a:xfrm>
          <a:prstGeom prst="rect">
            <a:avLst/>
          </a:prstGeom>
          <a:noFill/>
          <a:ln/>
        </p:spPr>
        <p:txBody>
          <a:bodyPr wrap="square" lIns="0" tIns="0" rIns="0" bIns="0" rtlCol="0" anchor="t"/>
          <a:lstStyle/>
          <a:p>
            <a:pPr algn="ctr">
              <a:lnSpc>
                <a:spcPct val="200000"/>
              </a:lnSpc>
            </a:pPr>
            <a:r>
              <a:rPr lang="en-US" sz="2400" kern="0" spc="-126" dirty="0">
                <a:solidFill>
                  <a:srgbClr val="FF0000"/>
                </a:solidFill>
                <a:effectLst>
                  <a:outerShdw blurRad="38100" dist="38100" dir="2700000" algn="tl">
                    <a:srgbClr val="000000">
                      <a:alpha val="43137"/>
                    </a:srgbClr>
                  </a:outerShdw>
                </a:effectLst>
                <a:latin typeface="Eras Bold ITC" panose="020B0907030504020204" pitchFamily="34" charset="0"/>
                <a:ea typeface="Source Serif Pro Semi Bold" pitchFamily="34" charset="-122"/>
                <a:cs typeface="Source Serif Pro Semi Bold" pitchFamily="34" charset="-120"/>
              </a:rPr>
              <a:t>Railway Track Fall Detection System Using Region Based Convolutional</a:t>
            </a:r>
          </a:p>
          <a:p>
            <a:pPr algn="ctr">
              <a:lnSpc>
                <a:spcPct val="200000"/>
              </a:lnSpc>
            </a:pPr>
            <a:r>
              <a:rPr lang="en-US" sz="2400" kern="0" spc="-126" dirty="0">
                <a:solidFill>
                  <a:srgbClr val="FF0000"/>
                </a:solidFill>
                <a:effectLst>
                  <a:outerShdw blurRad="38100" dist="38100" dir="2700000" algn="tl">
                    <a:srgbClr val="000000">
                      <a:alpha val="43137"/>
                    </a:srgbClr>
                  </a:outerShdw>
                </a:effectLst>
                <a:latin typeface="Eras Bold ITC" panose="020B0907030504020204" pitchFamily="34" charset="0"/>
                <a:ea typeface="Source Serif Pro Semi Bold" pitchFamily="34" charset="-122"/>
                <a:cs typeface="Source Serif Pro Semi Bold" pitchFamily="34" charset="-120"/>
              </a:rPr>
              <a:t> Neural Networks For people Safety</a:t>
            </a:r>
            <a:endParaRPr lang="en-US" sz="2400" dirty="0">
              <a:solidFill>
                <a:srgbClr val="FF0000"/>
              </a:solidFill>
              <a:effectLst>
                <a:outerShdw blurRad="38100" dist="38100" dir="2700000" algn="tl">
                  <a:srgbClr val="000000">
                    <a:alpha val="43137"/>
                  </a:srgbClr>
                </a:outerShdw>
              </a:effectLst>
              <a:latin typeface="Eras Bold ITC" panose="020B0907030504020204" pitchFamily="34" charset="0"/>
            </a:endParaRPr>
          </a:p>
        </p:txBody>
      </p:sp>
      <p:sp>
        <p:nvSpPr>
          <p:cNvPr id="4" name="Text 1"/>
          <p:cNvSpPr/>
          <p:nvPr/>
        </p:nvSpPr>
        <p:spPr>
          <a:xfrm>
            <a:off x="6350437" y="4570571"/>
            <a:ext cx="7415927" cy="395049"/>
          </a:xfrm>
          <a:prstGeom prst="rect">
            <a:avLst/>
          </a:prstGeom>
          <a:noFill/>
          <a:ln/>
        </p:spPr>
        <p:txBody>
          <a:bodyPr wrap="none" lIns="0" tIns="0" rIns="0" bIns="0" rtlCol="0" anchor="t"/>
          <a:lstStyle/>
          <a:p>
            <a:pPr marL="0" indent="0">
              <a:lnSpc>
                <a:spcPts val="3100"/>
              </a:lnSpc>
              <a:buNone/>
            </a:pPr>
            <a:endParaRPr lang="en-US" sz="1900" dirty="0"/>
          </a:p>
        </p:txBody>
      </p:sp>
      <p:sp>
        <p:nvSpPr>
          <p:cNvPr id="5" name="Text 2"/>
          <p:cNvSpPr/>
          <p:nvPr/>
        </p:nvSpPr>
        <p:spPr>
          <a:xfrm>
            <a:off x="6350437" y="5243274"/>
            <a:ext cx="7415927" cy="790099"/>
          </a:xfrm>
          <a:prstGeom prst="rect">
            <a:avLst/>
          </a:prstGeom>
          <a:noFill/>
          <a:ln/>
        </p:spPr>
        <p:txBody>
          <a:bodyPr wrap="square" lIns="0" tIns="0" rIns="0" bIns="0" rtlCol="0" anchor="t"/>
          <a:lstStyle/>
          <a:p>
            <a:pPr algn="ctr">
              <a:lnSpc>
                <a:spcPts val="3100"/>
              </a:lnSpc>
            </a:pPr>
            <a:r>
              <a:rPr lang="en-US" sz="2800" dirty="0"/>
              <a:t>A real-time, AI-powered system using Region-Based Convolutional Neural Networks (R-CNN) to detect falls, cracks, and obstacles on railway tracks to prevent accidents.</a:t>
            </a:r>
          </a:p>
        </p:txBody>
      </p:sp>
      <p:pic>
        <p:nvPicPr>
          <p:cNvPr id="6" name="Image 0">
            <a:extLst>
              <a:ext uri="{FF2B5EF4-FFF2-40B4-BE49-F238E27FC236}">
                <a16:creationId xmlns:a16="http://schemas.microsoft.com/office/drawing/2014/main" id="{543E197E-0738-E500-E93B-C9038FE1C580}"/>
              </a:ext>
            </a:extLst>
          </p:cNvPr>
          <p:cNvPicPr>
            <a:picLocks noChangeAspect="1"/>
          </p:cNvPicPr>
          <p:nvPr/>
        </p:nvPicPr>
        <p:blipFill>
          <a:blip r:embed="rId3"/>
          <a:srcRect/>
          <a:stretch/>
        </p:blipFill>
        <p:spPr>
          <a:xfrm>
            <a:off x="0" y="0"/>
            <a:ext cx="5486400" cy="8229600"/>
          </a:xfrm>
          <a:prstGeom prst="rect">
            <a:avLst/>
          </a:prstGeom>
        </p:spPr>
      </p:pic>
      <p:sp>
        <p:nvSpPr>
          <p:cNvPr id="7" name="Rectangle 6">
            <a:extLst>
              <a:ext uri="{FF2B5EF4-FFF2-40B4-BE49-F238E27FC236}">
                <a16:creationId xmlns:a16="http://schemas.microsoft.com/office/drawing/2014/main" id="{F99AF523-45E7-3095-8830-CBFD77634BDB}"/>
              </a:ext>
            </a:extLst>
          </p:cNvPr>
          <p:cNvSpPr/>
          <p:nvPr/>
        </p:nvSpPr>
        <p:spPr>
          <a:xfrm>
            <a:off x="6451164" y="346940"/>
            <a:ext cx="7315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sz="3200" b="1" dirty="0"/>
              <a:t>PROJECT TITLE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DC4604-BD76-D31E-F912-BF3D70F973AD}"/>
              </a:ext>
            </a:extLst>
          </p:cNvPr>
          <p:cNvSpPr/>
          <p:nvPr/>
        </p:nvSpPr>
        <p:spPr>
          <a:xfrm>
            <a:off x="1" y="617243"/>
            <a:ext cx="7315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3" name="Text 0"/>
          <p:cNvSpPr/>
          <p:nvPr/>
        </p:nvSpPr>
        <p:spPr>
          <a:xfrm>
            <a:off x="679064" y="575250"/>
            <a:ext cx="5455444" cy="681871"/>
          </a:xfrm>
          <a:prstGeom prst="rect">
            <a:avLst/>
          </a:prstGeom>
          <a:noFill/>
          <a:ln/>
        </p:spPr>
        <p:txBody>
          <a:bodyPr wrap="none" lIns="0" tIns="0" rIns="0" bIns="0" rtlCol="0" anchor="t"/>
          <a:lstStyle/>
          <a:p>
            <a:pPr marL="0" indent="0">
              <a:lnSpc>
                <a:spcPts val="5350"/>
              </a:lnSpc>
              <a:buNone/>
            </a:pPr>
            <a:endParaRPr lang="en-US" sz="4250" u="sng" dirty="0">
              <a:effectLst>
                <a:outerShdw blurRad="38100" dist="38100" dir="2700000" algn="tl">
                  <a:srgbClr val="000000">
                    <a:alpha val="43137"/>
                  </a:srgbClr>
                </a:outerShdw>
              </a:effectLst>
              <a:latin typeface="Eras Bold ITC" panose="020B0907030504020204" pitchFamily="34" charset="0"/>
            </a:endParaRPr>
          </a:p>
        </p:txBody>
      </p:sp>
      <p:sp>
        <p:nvSpPr>
          <p:cNvPr id="4" name="Text 1"/>
          <p:cNvSpPr/>
          <p:nvPr/>
        </p:nvSpPr>
        <p:spPr>
          <a:xfrm>
            <a:off x="679064" y="1297662"/>
            <a:ext cx="7521178" cy="741759"/>
          </a:xfrm>
          <a:prstGeom prst="rect">
            <a:avLst/>
          </a:prstGeom>
          <a:noFill/>
          <a:ln/>
        </p:spPr>
        <p:txBody>
          <a:bodyPr wrap="square" lIns="0" tIns="0" rIns="0" bIns="0" rtlCol="0" anchor="t"/>
          <a:lstStyle/>
          <a:p>
            <a:pPr marL="342900" indent="-342900" algn="l">
              <a:lnSpc>
                <a:spcPts val="2900"/>
              </a:lnSpc>
              <a:buSzPct val="100000"/>
              <a:buChar char="•"/>
            </a:pPr>
            <a:endParaRPr lang="en-US" sz="2800" dirty="0"/>
          </a:p>
        </p:txBody>
      </p:sp>
      <p:sp>
        <p:nvSpPr>
          <p:cNvPr id="5" name="Text 2"/>
          <p:cNvSpPr/>
          <p:nvPr/>
        </p:nvSpPr>
        <p:spPr>
          <a:xfrm>
            <a:off x="679064" y="2292078"/>
            <a:ext cx="7521178" cy="741759"/>
          </a:xfrm>
          <a:prstGeom prst="rect">
            <a:avLst/>
          </a:prstGeom>
          <a:noFill/>
          <a:ln/>
        </p:spPr>
        <p:txBody>
          <a:bodyPr wrap="square" lIns="0" tIns="0" rIns="0" bIns="0" rtlCol="0" anchor="t"/>
          <a:lstStyle/>
          <a:p>
            <a:pPr marL="342900" indent="-342900" algn="l">
              <a:lnSpc>
                <a:spcPts val="2900"/>
              </a:lnSpc>
              <a:buSzPct val="100000"/>
              <a:buChar char="•"/>
            </a:pPr>
            <a:endParaRPr lang="en-US" sz="2800" dirty="0"/>
          </a:p>
        </p:txBody>
      </p:sp>
      <p:sp>
        <p:nvSpPr>
          <p:cNvPr id="6" name="Text 3"/>
          <p:cNvSpPr/>
          <p:nvPr/>
        </p:nvSpPr>
        <p:spPr>
          <a:xfrm>
            <a:off x="679064" y="3707639"/>
            <a:ext cx="7521178" cy="741759"/>
          </a:xfrm>
          <a:prstGeom prst="rect">
            <a:avLst/>
          </a:prstGeom>
          <a:noFill/>
          <a:ln/>
        </p:spPr>
        <p:txBody>
          <a:bodyPr wrap="square" lIns="0" tIns="0" rIns="0" bIns="0" rtlCol="0" anchor="t"/>
          <a:lstStyle/>
          <a:p>
            <a:pPr marL="342900" indent="-342900" algn="l">
              <a:lnSpc>
                <a:spcPts val="2900"/>
              </a:lnSpc>
              <a:buSzPct val="100000"/>
              <a:buChar char="•"/>
            </a:pPr>
            <a:endParaRPr lang="en-US" sz="2800" dirty="0"/>
          </a:p>
        </p:txBody>
      </p:sp>
      <p:sp>
        <p:nvSpPr>
          <p:cNvPr id="7" name="Text 4"/>
          <p:cNvSpPr/>
          <p:nvPr/>
        </p:nvSpPr>
        <p:spPr>
          <a:xfrm>
            <a:off x="811411" y="4731300"/>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2800" dirty="0"/>
          </a:p>
        </p:txBody>
      </p:sp>
      <p:sp>
        <p:nvSpPr>
          <p:cNvPr id="8" name="Text 5"/>
          <p:cNvSpPr/>
          <p:nvPr/>
        </p:nvSpPr>
        <p:spPr>
          <a:xfrm>
            <a:off x="811411" y="5102502"/>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2800" dirty="0"/>
          </a:p>
        </p:txBody>
      </p:sp>
      <p:sp>
        <p:nvSpPr>
          <p:cNvPr id="9" name="Text 6"/>
          <p:cNvSpPr/>
          <p:nvPr/>
        </p:nvSpPr>
        <p:spPr>
          <a:xfrm>
            <a:off x="811411" y="5717533"/>
            <a:ext cx="7521178" cy="370880"/>
          </a:xfrm>
          <a:prstGeom prst="rect">
            <a:avLst/>
          </a:prstGeom>
          <a:noFill/>
          <a:ln/>
        </p:spPr>
        <p:txBody>
          <a:bodyPr wrap="none" lIns="0" tIns="0" rIns="0" bIns="0" rtlCol="0" anchor="t"/>
          <a:lstStyle/>
          <a:p>
            <a:pPr marL="342900" indent="-342900" algn="l">
              <a:lnSpc>
                <a:spcPts val="2900"/>
              </a:lnSpc>
              <a:buSzPct val="100000"/>
              <a:buChar char="•"/>
            </a:pPr>
            <a:endParaRPr lang="en-US" sz="2800" dirty="0"/>
          </a:p>
        </p:txBody>
      </p:sp>
      <p:sp>
        <p:nvSpPr>
          <p:cNvPr id="10" name="Text 7"/>
          <p:cNvSpPr/>
          <p:nvPr/>
        </p:nvSpPr>
        <p:spPr>
          <a:xfrm>
            <a:off x="811411" y="6332564"/>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2800" dirty="0"/>
          </a:p>
        </p:txBody>
      </p:sp>
      <p:sp>
        <p:nvSpPr>
          <p:cNvPr id="11" name="Text 8"/>
          <p:cNvSpPr/>
          <p:nvPr/>
        </p:nvSpPr>
        <p:spPr>
          <a:xfrm>
            <a:off x="811411" y="6889206"/>
            <a:ext cx="7521178" cy="370880"/>
          </a:xfrm>
          <a:prstGeom prst="rect">
            <a:avLst/>
          </a:prstGeom>
          <a:noFill/>
          <a:ln/>
        </p:spPr>
        <p:txBody>
          <a:bodyPr wrap="none" lIns="0" tIns="0" rIns="0" bIns="0" rtlCol="0" anchor="t"/>
          <a:lstStyle/>
          <a:p>
            <a:pPr marL="685800" lvl="1" indent="-342900" algn="l">
              <a:lnSpc>
                <a:spcPts val="2900"/>
              </a:lnSpc>
              <a:buSzPct val="100000"/>
              <a:buChar char="•"/>
            </a:pPr>
            <a:endParaRPr lang="en-US" sz="1800" dirty="0"/>
          </a:p>
        </p:txBody>
      </p:sp>
      <p:sp>
        <p:nvSpPr>
          <p:cNvPr id="12" name="Text 9"/>
          <p:cNvSpPr/>
          <p:nvPr/>
        </p:nvSpPr>
        <p:spPr>
          <a:xfrm>
            <a:off x="811411" y="7409623"/>
            <a:ext cx="7521178" cy="370880"/>
          </a:xfrm>
          <a:prstGeom prst="rect">
            <a:avLst/>
          </a:prstGeom>
          <a:noFill/>
          <a:ln/>
        </p:spPr>
        <p:txBody>
          <a:bodyPr wrap="none" lIns="0" tIns="0" rIns="0" bIns="0" rtlCol="0" anchor="t"/>
          <a:lstStyle/>
          <a:p>
            <a:pPr marL="342900" indent="-342900" algn="l">
              <a:lnSpc>
                <a:spcPts val="2900"/>
              </a:lnSpc>
              <a:buSzPct val="100000"/>
              <a:buChar char="•"/>
            </a:pPr>
            <a:endParaRPr lang="en-US" sz="1800" dirty="0"/>
          </a:p>
        </p:txBody>
      </p:sp>
      <p:sp>
        <p:nvSpPr>
          <p:cNvPr id="13" name="Text 10"/>
          <p:cNvSpPr/>
          <p:nvPr/>
        </p:nvSpPr>
        <p:spPr>
          <a:xfrm>
            <a:off x="811411" y="7490705"/>
            <a:ext cx="7521178" cy="741759"/>
          </a:xfrm>
          <a:prstGeom prst="rect">
            <a:avLst/>
          </a:prstGeom>
          <a:noFill/>
          <a:ln/>
        </p:spPr>
        <p:txBody>
          <a:bodyPr wrap="square" lIns="0" tIns="0" rIns="0" bIns="0" rtlCol="0" anchor="t"/>
          <a:lstStyle/>
          <a:p>
            <a:pPr algn="l">
              <a:lnSpc>
                <a:spcPts val="2900"/>
              </a:lnSpc>
              <a:buSzPct val="100000"/>
            </a:pPr>
            <a:endParaRPr lang="en-US" sz="1800" dirty="0"/>
          </a:p>
        </p:txBody>
      </p:sp>
      <p:sp>
        <p:nvSpPr>
          <p:cNvPr id="19" name="TextBox 18">
            <a:extLst>
              <a:ext uri="{FF2B5EF4-FFF2-40B4-BE49-F238E27FC236}">
                <a16:creationId xmlns:a16="http://schemas.microsoft.com/office/drawing/2014/main" id="{074AC566-9C2A-376F-3944-FC2057214046}"/>
              </a:ext>
            </a:extLst>
          </p:cNvPr>
          <p:cNvSpPr txBox="1"/>
          <p:nvPr/>
        </p:nvSpPr>
        <p:spPr>
          <a:xfrm>
            <a:off x="2619377" y="691890"/>
            <a:ext cx="4695824" cy="584775"/>
          </a:xfrm>
          <a:prstGeom prst="rect">
            <a:avLst/>
          </a:prstGeom>
          <a:noFill/>
        </p:spPr>
        <p:txBody>
          <a:bodyPr wrap="square" rtlCol="0">
            <a:spAutoFit/>
          </a:bodyPr>
          <a:lstStyle/>
          <a:p>
            <a:r>
              <a:rPr lang="en-IN" sz="3200" b="1" dirty="0"/>
              <a:t>ABSTRACT</a:t>
            </a:r>
          </a:p>
        </p:txBody>
      </p:sp>
      <p:sp>
        <p:nvSpPr>
          <p:cNvPr id="20" name="Rectangle 4">
            <a:extLst>
              <a:ext uri="{FF2B5EF4-FFF2-40B4-BE49-F238E27FC236}">
                <a16:creationId xmlns:a16="http://schemas.microsoft.com/office/drawing/2014/main" id="{FE3B04FF-8C1A-566E-EB1A-AEDE27D17C8B}"/>
              </a:ext>
            </a:extLst>
          </p:cNvPr>
          <p:cNvSpPr>
            <a:spLocks noChangeArrowheads="1"/>
          </p:cNvSpPr>
          <p:nvPr/>
        </p:nvSpPr>
        <p:spPr bwMode="auto">
          <a:xfrm>
            <a:off x="67704" y="2011809"/>
            <a:ext cx="7247497"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Railway track defects can cause serious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accidents if not detected early.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This project uses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R-CNN</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to automatically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i</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dentify track falls, cracks, and obstacles.  </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Detected defects are highlighted with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bounding boxes.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siren alarm alerts</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immediately when a</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defect is found.</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system improves railway safety through</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fast and accurate detection.</a:t>
            </a:r>
          </a:p>
          <a:p>
            <a:pPr marL="457200" lvl="0" indent="-457200" eaLnBrk="0" fontAlgn="base" hangingPunct="0">
              <a:spcBef>
                <a:spcPct val="0"/>
              </a:spcBef>
              <a:spcAft>
                <a:spcPct val="0"/>
              </a:spcAft>
              <a:buFont typeface="Courier New" panose="02070309020205020404" pitchFamily="49" charset="0"/>
              <a:buChar char="o"/>
            </a:pPr>
            <a:r>
              <a:rPr lang="en-US" sz="2800" dirty="0"/>
              <a:t> Helps reduce manual inspection effort and </a:t>
            </a:r>
          </a:p>
          <a:p>
            <a:pPr lvl="0" eaLnBrk="0" fontAlgn="base" hangingPunct="0">
              <a:spcBef>
                <a:spcPct val="0"/>
              </a:spcBef>
              <a:spcAft>
                <a:spcPct val="0"/>
              </a:spcAft>
            </a:pPr>
            <a:r>
              <a:rPr lang="en-US" sz="2800" dirty="0"/>
              <a:t>       supports predictive maintenance.</a:t>
            </a:r>
            <a:endPar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endParaRPr>
          </a:p>
        </p:txBody>
      </p:sp>
      <p:pic>
        <p:nvPicPr>
          <p:cNvPr id="1032" name="Picture 8" descr="Train Tracks Images – Browse 4,304,260 Stock Photos, Vectors, and Video |  Adobe Stock">
            <a:extLst>
              <a:ext uri="{FF2B5EF4-FFF2-40B4-BE49-F238E27FC236}">
                <a16:creationId xmlns:a16="http://schemas.microsoft.com/office/drawing/2014/main" id="{918C9BDE-0319-618B-ADC8-953969B87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0242" y="617243"/>
            <a:ext cx="6160147" cy="64223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E80E0E-045A-5852-81E3-AEDE14874327}"/>
              </a:ext>
            </a:extLst>
          </p:cNvPr>
          <p:cNvSpPr/>
          <p:nvPr/>
        </p:nvSpPr>
        <p:spPr>
          <a:xfrm>
            <a:off x="3332749" y="320922"/>
            <a:ext cx="7724273"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0342A4-D1A1-24E1-5A2D-FA47E310AA49}"/>
              </a:ext>
            </a:extLst>
          </p:cNvPr>
          <p:cNvSpPr txBox="1"/>
          <p:nvPr/>
        </p:nvSpPr>
        <p:spPr>
          <a:xfrm>
            <a:off x="5759019" y="409510"/>
            <a:ext cx="5129561" cy="584775"/>
          </a:xfrm>
          <a:prstGeom prst="rect">
            <a:avLst/>
          </a:prstGeom>
          <a:noFill/>
        </p:spPr>
        <p:txBody>
          <a:bodyPr wrap="square" rtlCol="0">
            <a:spAutoFit/>
          </a:bodyPr>
          <a:lstStyle/>
          <a:p>
            <a:r>
              <a:rPr lang="en-IN" sz="3200" b="1" dirty="0"/>
              <a:t>INTRODUCTION</a:t>
            </a:r>
          </a:p>
        </p:txBody>
      </p:sp>
      <p:sp>
        <p:nvSpPr>
          <p:cNvPr id="6" name="Rectangle 1">
            <a:extLst>
              <a:ext uri="{FF2B5EF4-FFF2-40B4-BE49-F238E27FC236}">
                <a16:creationId xmlns:a16="http://schemas.microsoft.com/office/drawing/2014/main" id="{4EC9B7E5-786E-F559-2044-E9120EC45DAA}"/>
              </a:ext>
            </a:extLst>
          </p:cNvPr>
          <p:cNvSpPr>
            <a:spLocks noChangeArrowheads="1"/>
          </p:cNvSpPr>
          <p:nvPr/>
        </p:nvSpPr>
        <p:spPr bwMode="auto">
          <a:xfrm>
            <a:off x="6100175" y="1238093"/>
            <a:ext cx="8655485" cy="6555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Railway networks are one of the most widely used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transportation systems and require high safety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standards.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Even small defects on the track can lead to major failures if not detected early.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Traditional inspection methods depend on manual checking,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which is time-consuming and cannot cover long</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routes efficiently.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With the growth of technology, AI and computer vision offer a modern way to observe track conditions continuously.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Implementing automated detection systems helps railway authorities improve monitoring, reduce human error, and respond quickly to risks.</a:t>
            </a:r>
          </a:p>
        </p:txBody>
      </p:sp>
      <p:pic>
        <p:nvPicPr>
          <p:cNvPr id="10" name="Picture 9">
            <a:extLst>
              <a:ext uri="{FF2B5EF4-FFF2-40B4-BE49-F238E27FC236}">
                <a16:creationId xmlns:a16="http://schemas.microsoft.com/office/drawing/2014/main" id="{7D0439D1-7037-2F89-7D64-01E1B0A62A44}"/>
              </a:ext>
            </a:extLst>
          </p:cNvPr>
          <p:cNvPicPr>
            <a:picLocks noChangeAspect="1"/>
          </p:cNvPicPr>
          <p:nvPr/>
        </p:nvPicPr>
        <p:blipFill>
          <a:blip r:embed="rId2"/>
          <a:stretch>
            <a:fillRect/>
          </a:stretch>
        </p:blipFill>
        <p:spPr>
          <a:xfrm>
            <a:off x="688931" y="1778696"/>
            <a:ext cx="5070087" cy="5825262"/>
          </a:xfrm>
          <a:prstGeom prst="rect">
            <a:avLst/>
          </a:prstGeom>
        </p:spPr>
      </p:pic>
    </p:spTree>
    <p:extLst>
      <p:ext uri="{BB962C8B-B14F-4D97-AF65-F5344CB8AC3E}">
        <p14:creationId xmlns:p14="http://schemas.microsoft.com/office/powerpoint/2010/main" val="136555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13" name="Ink 12">
                <a:extLst>
                  <a:ext uri="{FF2B5EF4-FFF2-40B4-BE49-F238E27FC236}">
                    <a16:creationId xmlns:a16="http://schemas.microsoft.com/office/drawing/2014/main" id="{62A92763-7AD9-3A08-822C-62A9A5768044}"/>
                  </a:ext>
                </a:extLst>
              </p14:cNvPr>
              <p14:cNvContentPartPr/>
              <p14:nvPr/>
            </p14:nvContentPartPr>
            <p14:xfrm>
              <a:off x="7243295" y="4102636"/>
              <a:ext cx="360" cy="360"/>
            </p14:xfrm>
          </p:contentPart>
        </mc:Choice>
        <mc:Fallback xmlns="">
          <p:pic>
            <p:nvPicPr>
              <p:cNvPr id="13" name="Ink 12">
                <a:extLst>
                  <a:ext uri="{FF2B5EF4-FFF2-40B4-BE49-F238E27FC236}">
                    <a16:creationId xmlns:a16="http://schemas.microsoft.com/office/drawing/2014/main" id="{62A92763-7AD9-3A08-822C-62A9A5768044}"/>
                  </a:ext>
                </a:extLst>
              </p:cNvPr>
              <p:cNvPicPr/>
              <p:nvPr/>
            </p:nvPicPr>
            <p:blipFill>
              <a:blip r:embed="rId4"/>
              <a:stretch>
                <a:fillRect/>
              </a:stretch>
            </p:blipFill>
            <p:spPr>
              <a:xfrm>
                <a:off x="7234295" y="4048636"/>
                <a:ext cx="18000" cy="108000"/>
              </a:xfrm>
              <a:prstGeom prst="rect">
                <a:avLst/>
              </a:prstGeom>
            </p:spPr>
          </p:pic>
        </mc:Fallback>
      </mc:AlternateContent>
      <p:sp>
        <p:nvSpPr>
          <p:cNvPr id="2" name="Rectangle 1">
            <a:extLst>
              <a:ext uri="{FF2B5EF4-FFF2-40B4-BE49-F238E27FC236}">
                <a16:creationId xmlns:a16="http://schemas.microsoft.com/office/drawing/2014/main" id="{D633B552-C427-FD40-23DE-41461A57FDAD}"/>
              </a:ext>
            </a:extLst>
          </p:cNvPr>
          <p:cNvSpPr/>
          <p:nvPr/>
        </p:nvSpPr>
        <p:spPr>
          <a:xfrm>
            <a:off x="8070" y="895459"/>
            <a:ext cx="7724273"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0732FA-DFD6-45B3-08B8-2AF1D1B68967}"/>
              </a:ext>
            </a:extLst>
          </p:cNvPr>
          <p:cNvSpPr txBox="1"/>
          <p:nvPr/>
        </p:nvSpPr>
        <p:spPr>
          <a:xfrm>
            <a:off x="2502105" y="984729"/>
            <a:ext cx="6207615" cy="584775"/>
          </a:xfrm>
          <a:prstGeom prst="rect">
            <a:avLst/>
          </a:prstGeom>
          <a:noFill/>
        </p:spPr>
        <p:txBody>
          <a:bodyPr wrap="square" rtlCol="0">
            <a:spAutoFit/>
          </a:bodyPr>
          <a:lstStyle/>
          <a:p>
            <a:r>
              <a:rPr lang="en-IN" sz="3200" b="1" dirty="0"/>
              <a:t>OBJECTIVE</a:t>
            </a:r>
          </a:p>
        </p:txBody>
      </p:sp>
      <p:sp>
        <p:nvSpPr>
          <p:cNvPr id="3" name="Rectangle 1">
            <a:extLst>
              <a:ext uri="{FF2B5EF4-FFF2-40B4-BE49-F238E27FC236}">
                <a16:creationId xmlns:a16="http://schemas.microsoft.com/office/drawing/2014/main" id="{34FC019E-BFA3-A9CD-73EC-7C63F9BF723A}"/>
              </a:ext>
            </a:extLst>
          </p:cNvPr>
          <p:cNvSpPr>
            <a:spLocks noChangeArrowheads="1"/>
          </p:cNvSpPr>
          <p:nvPr/>
        </p:nvSpPr>
        <p:spPr bwMode="auto">
          <a:xfrm>
            <a:off x="651354" y="2170983"/>
            <a:ext cx="756967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detect railway track falls, cracks, and </a:t>
            </a: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obstacles using R-CNN.</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accurately locate defects with </a:t>
            </a:r>
            <a:endParaRPr lang="en-US" altLang="en-US" sz="2800" dirty="0">
              <a:latin typeface="Source Sans Pro" panose="020B0503030403020204" pitchFamily="34" charset="0"/>
              <a:ea typeface="Source Sans Pro" panose="020B0503030403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bounding boxes.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automate monitoring and reduce manual</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inspection effort.</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provide a </a:t>
            </a: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siren alarm alert</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when defects are detected.</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To improve railway safety through real-time detection.</a:t>
            </a:r>
          </a:p>
        </p:txBody>
      </p:sp>
      <p:pic>
        <p:nvPicPr>
          <p:cNvPr id="7" name="Picture 6" descr="A rainbow colored object on the ground&#10;&#10;AI-generated content may be incorrect.">
            <a:extLst>
              <a:ext uri="{FF2B5EF4-FFF2-40B4-BE49-F238E27FC236}">
                <a16:creationId xmlns:a16="http://schemas.microsoft.com/office/drawing/2014/main" id="{08C8EB60-E7BF-8606-4E4A-E2AAB8EBF7D8}"/>
              </a:ext>
            </a:extLst>
          </p:cNvPr>
          <p:cNvPicPr>
            <a:picLocks noChangeAspect="1"/>
          </p:cNvPicPr>
          <p:nvPr/>
        </p:nvPicPr>
        <p:blipFill>
          <a:blip r:embed="rId5"/>
          <a:stretch>
            <a:fillRect/>
          </a:stretch>
        </p:blipFill>
        <p:spPr>
          <a:xfrm>
            <a:off x="8221032" y="1051587"/>
            <a:ext cx="6287377" cy="6564042"/>
          </a:xfrm>
          <a:prstGeom prst="rect">
            <a:avLst/>
          </a:prstGeom>
        </p:spPr>
      </p:pic>
    </p:spTree>
    <p:extLst>
      <p:ext uri="{BB962C8B-B14F-4D97-AF65-F5344CB8AC3E}">
        <p14:creationId xmlns:p14="http://schemas.microsoft.com/office/powerpoint/2010/main" val="7223457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6B039A8-A1C0-0E51-E65C-E095851C754D}"/>
              </a:ext>
            </a:extLst>
          </p:cNvPr>
          <p:cNvSpPr txBox="1"/>
          <p:nvPr/>
        </p:nvSpPr>
        <p:spPr>
          <a:xfrm>
            <a:off x="918773" y="3730278"/>
            <a:ext cx="7477201" cy="1231106"/>
          </a:xfrm>
          <a:prstGeom prst="rect">
            <a:avLst/>
          </a:prstGeom>
          <a:noFill/>
        </p:spPr>
        <p:txBody>
          <a:bodyPr wrap="square" rtlCol="0">
            <a:spAutoFit/>
          </a:bodyPr>
          <a:lstStyle/>
          <a:p>
            <a:endParaRPr lang="en-US" sz="2400" b="1" kern="0" spc="-37" dirty="0">
              <a:solidFill>
                <a:srgbClr val="272525"/>
              </a:solidFill>
              <a:effectLst>
                <a:outerShdw blurRad="38100" dist="38100" dir="2700000" algn="tl">
                  <a:srgbClr val="000000">
                    <a:alpha val="43137"/>
                  </a:srgbClr>
                </a:outerShdw>
              </a:effectLst>
              <a:latin typeface="Source Sans Pro" pitchFamily="34" charset="0"/>
              <a:ea typeface="Source Sans Pro" pitchFamily="34" charset="-122"/>
            </a:endParaRPr>
          </a:p>
          <a:p>
            <a:endParaRPr lang="en-US" sz="2400" b="1" kern="0" spc="-37" dirty="0">
              <a:solidFill>
                <a:srgbClr val="272525"/>
              </a:solidFill>
              <a:effectLst>
                <a:outerShdw blurRad="38100" dist="38100" dir="2700000" algn="tl">
                  <a:srgbClr val="000000">
                    <a:alpha val="43137"/>
                  </a:srgbClr>
                </a:outerShdw>
              </a:effectLst>
              <a:latin typeface="Source Sans Pro" pitchFamily="34" charset="0"/>
              <a:ea typeface="Source Sans Pro" pitchFamily="34" charset="-122"/>
            </a:endParaRPr>
          </a:p>
          <a:p>
            <a:r>
              <a:rPr lang="en-US" sz="2600" b="1" u="sng" kern="0" spc="-37" dirty="0">
                <a:effectLst>
                  <a:outerShdw blurRad="38100" dist="38100" dir="2700000" algn="tl">
                    <a:srgbClr val="000000">
                      <a:alpha val="43137"/>
                    </a:srgbClr>
                  </a:outerShdw>
                </a:effectLst>
                <a:latin typeface="Source Sans Pro" pitchFamily="34" charset="0"/>
                <a:ea typeface="Source Sans Pro" pitchFamily="34" charset="-122"/>
              </a:rPr>
              <a:t>Limitations of the Existing System:</a:t>
            </a:r>
          </a:p>
        </p:txBody>
      </p:sp>
      <p:sp>
        <p:nvSpPr>
          <p:cNvPr id="3" name="Rectangle 2">
            <a:extLst>
              <a:ext uri="{FF2B5EF4-FFF2-40B4-BE49-F238E27FC236}">
                <a16:creationId xmlns:a16="http://schemas.microsoft.com/office/drawing/2014/main" id="{78377E0A-9545-C286-A1F1-110EB7FF60D5}"/>
              </a:ext>
            </a:extLst>
          </p:cNvPr>
          <p:cNvSpPr/>
          <p:nvPr/>
        </p:nvSpPr>
        <p:spPr>
          <a:xfrm>
            <a:off x="0" y="773702"/>
            <a:ext cx="7724273"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3BBA9E0F-C541-F7DE-0839-BEDEC43CBFEB}"/>
              </a:ext>
            </a:extLst>
          </p:cNvPr>
          <p:cNvSpPr txBox="1"/>
          <p:nvPr/>
        </p:nvSpPr>
        <p:spPr>
          <a:xfrm>
            <a:off x="2062975" y="862292"/>
            <a:ext cx="7060204" cy="584775"/>
          </a:xfrm>
          <a:prstGeom prst="rect">
            <a:avLst/>
          </a:prstGeom>
          <a:noFill/>
        </p:spPr>
        <p:txBody>
          <a:bodyPr wrap="square" rtlCol="0">
            <a:spAutoFit/>
          </a:bodyPr>
          <a:lstStyle/>
          <a:p>
            <a:r>
              <a:rPr lang="en-IN" sz="3200" b="1" dirty="0"/>
              <a:t>EXISTING SYSTEMS</a:t>
            </a:r>
          </a:p>
        </p:txBody>
      </p:sp>
      <p:sp>
        <p:nvSpPr>
          <p:cNvPr id="4" name="Rectangle 1">
            <a:extLst>
              <a:ext uri="{FF2B5EF4-FFF2-40B4-BE49-F238E27FC236}">
                <a16:creationId xmlns:a16="http://schemas.microsoft.com/office/drawing/2014/main" id="{E3E5E8CE-239C-03E1-0D5E-C808E3601C6F}"/>
              </a:ext>
            </a:extLst>
          </p:cNvPr>
          <p:cNvSpPr>
            <a:spLocks noChangeArrowheads="1"/>
          </p:cNvSpPr>
          <p:nvPr/>
        </p:nvSpPr>
        <p:spPr bwMode="auto">
          <a:xfrm>
            <a:off x="332034" y="1783410"/>
            <a:ext cx="706020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Manual inspection of railway tracks by workers.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Sensor-based methods (ultrasonic, vibration sensors).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CCTV surveillance along railway lines.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Traditional image processing techniques </a:t>
            </a:r>
          </a:p>
        </p:txBody>
      </p:sp>
      <p:sp>
        <p:nvSpPr>
          <p:cNvPr id="5" name="Rectangle 2">
            <a:extLst>
              <a:ext uri="{FF2B5EF4-FFF2-40B4-BE49-F238E27FC236}">
                <a16:creationId xmlns:a16="http://schemas.microsoft.com/office/drawing/2014/main" id="{DDA26090-9488-192E-D37A-DF389E725435}"/>
              </a:ext>
            </a:extLst>
          </p:cNvPr>
          <p:cNvSpPr>
            <a:spLocks noChangeArrowheads="1"/>
          </p:cNvSpPr>
          <p:nvPr/>
        </p:nvSpPr>
        <p:spPr bwMode="auto">
          <a:xfrm>
            <a:off x="464084" y="4961384"/>
            <a:ext cx="837929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Slow and not suitable for long railway routes.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Highly dependent on human judgment → errors possible.</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Sensors cannot detect all types of external </a:t>
            </a:r>
          </a:p>
          <a:p>
            <a:pPr marR="0" lvl="0" algn="l" defTabSz="914400" rtl="0" eaLnBrk="0" fontAlgn="base" latinLnBrk="0" hangingPunct="0">
              <a:lnSpc>
                <a:spcPct val="100000"/>
              </a:lnSpc>
              <a:spcBef>
                <a:spcPct val="0"/>
              </a:spcBef>
              <a:spcAft>
                <a:spcPct val="0"/>
              </a:spcAft>
              <a:buClrTx/>
              <a:buSzTx/>
              <a:tabLst/>
            </a:pPr>
            <a:r>
              <a:rPr lang="en-US" altLang="en-US" sz="2800" dirty="0">
                <a:latin typeface="Source Sans Pro" panose="020B0503030403020204" pitchFamily="34" charset="0"/>
                <a:ea typeface="Source Sans Pro" panose="020B0503030403020204" pitchFamily="34" charset="0"/>
              </a:rPr>
              <a:t>      </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defects.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CCTV requires manual monitoring, not real-time detection.</a:t>
            </a:r>
          </a:p>
        </p:txBody>
      </p:sp>
      <p:sp>
        <p:nvSpPr>
          <p:cNvPr id="7" name="AutoShape 2">
            <a:extLst>
              <a:ext uri="{FF2B5EF4-FFF2-40B4-BE49-F238E27FC236}">
                <a16:creationId xmlns:a16="http://schemas.microsoft.com/office/drawing/2014/main" id="{2C7DF06F-713A-2340-34A9-389D9E67C500}"/>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DCB2FF3-45F2-27FA-B155-C18734921FA6}"/>
              </a:ext>
            </a:extLst>
          </p:cNvPr>
          <p:cNvPicPr>
            <a:picLocks noChangeAspect="1"/>
          </p:cNvPicPr>
          <p:nvPr/>
        </p:nvPicPr>
        <p:blipFill>
          <a:blip r:embed="rId2"/>
          <a:stretch>
            <a:fillRect/>
          </a:stretch>
        </p:blipFill>
        <p:spPr>
          <a:xfrm>
            <a:off x="8505173" y="676406"/>
            <a:ext cx="5793193" cy="6690902"/>
          </a:xfrm>
          <a:prstGeom prst="rect">
            <a:avLst/>
          </a:prstGeom>
        </p:spPr>
      </p:pic>
    </p:spTree>
    <p:extLst>
      <p:ext uri="{BB962C8B-B14F-4D97-AF65-F5344CB8AC3E}">
        <p14:creationId xmlns:p14="http://schemas.microsoft.com/office/powerpoint/2010/main" val="3879678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3" name="Text 11"/>
          <p:cNvSpPr/>
          <p:nvPr/>
        </p:nvSpPr>
        <p:spPr>
          <a:xfrm>
            <a:off x="9337358" y="1919288"/>
            <a:ext cx="4331732" cy="387072"/>
          </a:xfrm>
          <a:prstGeom prst="rect">
            <a:avLst/>
          </a:prstGeom>
          <a:noFill/>
          <a:ln/>
        </p:spPr>
        <p:txBody>
          <a:bodyPr wrap="none" lIns="0" tIns="0" rIns="0" bIns="0" rtlCol="0" anchor="t"/>
          <a:lstStyle/>
          <a:p>
            <a:pPr marL="0" indent="0" algn="l">
              <a:lnSpc>
                <a:spcPts val="2950"/>
              </a:lnSpc>
              <a:buNone/>
            </a:pPr>
            <a:endParaRPr lang="en-US" sz="1850" dirty="0"/>
          </a:p>
        </p:txBody>
      </p:sp>
      <p:sp>
        <p:nvSpPr>
          <p:cNvPr id="15" name="Text 12"/>
          <p:cNvSpPr/>
          <p:nvPr/>
        </p:nvSpPr>
        <p:spPr>
          <a:xfrm>
            <a:off x="9337358" y="7002066"/>
            <a:ext cx="4331732" cy="379452"/>
          </a:xfrm>
          <a:prstGeom prst="rect">
            <a:avLst/>
          </a:prstGeom>
          <a:noFill/>
          <a:ln/>
        </p:spPr>
        <p:txBody>
          <a:bodyPr wrap="none" lIns="0" tIns="0" rIns="0" bIns="0" rtlCol="0" anchor="t"/>
          <a:lstStyle/>
          <a:p>
            <a:pPr marL="0" indent="0" algn="l">
              <a:lnSpc>
                <a:spcPts val="2950"/>
              </a:lnSpc>
              <a:buNone/>
            </a:pPr>
            <a:r>
              <a:rPr lang="en-US" sz="1850" kern="0" spc="-37" dirty="0">
                <a:solidFill>
                  <a:srgbClr val="272525"/>
                </a:solidFill>
                <a:latin typeface="Source Sans Pro" pitchFamily="34" charset="0"/>
                <a:ea typeface="Source Sans Pro" pitchFamily="34" charset="-122"/>
                <a:cs typeface="Source Sans Pro" pitchFamily="34" charset="-120"/>
              </a:rPr>
              <a:t> </a:t>
            </a:r>
            <a:endParaRPr lang="en-US" sz="1850" dirty="0"/>
          </a:p>
        </p:txBody>
      </p:sp>
      <p:sp>
        <p:nvSpPr>
          <p:cNvPr id="2" name="Rectangle 1">
            <a:extLst>
              <a:ext uri="{FF2B5EF4-FFF2-40B4-BE49-F238E27FC236}">
                <a16:creationId xmlns:a16="http://schemas.microsoft.com/office/drawing/2014/main" id="{78377E0A-9545-C286-A1F1-110EB7FF60D5}"/>
              </a:ext>
            </a:extLst>
          </p:cNvPr>
          <p:cNvSpPr/>
          <p:nvPr/>
        </p:nvSpPr>
        <p:spPr>
          <a:xfrm>
            <a:off x="3031958" y="290716"/>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TextBox 21">
            <a:extLst>
              <a:ext uri="{FF2B5EF4-FFF2-40B4-BE49-F238E27FC236}">
                <a16:creationId xmlns:a16="http://schemas.microsoft.com/office/drawing/2014/main" id="{BC99EFF2-C577-4075-779D-3F68CE76FAE4}"/>
              </a:ext>
            </a:extLst>
          </p:cNvPr>
          <p:cNvSpPr txBox="1"/>
          <p:nvPr/>
        </p:nvSpPr>
        <p:spPr>
          <a:xfrm>
            <a:off x="4270740" y="379104"/>
            <a:ext cx="7627434" cy="584775"/>
          </a:xfrm>
          <a:prstGeom prst="rect">
            <a:avLst/>
          </a:prstGeom>
          <a:noFill/>
        </p:spPr>
        <p:txBody>
          <a:bodyPr wrap="square" rtlCol="0">
            <a:spAutoFit/>
          </a:bodyPr>
          <a:lstStyle/>
          <a:p>
            <a:r>
              <a:rPr lang="en-US" sz="3200" b="1" dirty="0"/>
              <a:t>       PROPOSED APPROACH</a:t>
            </a:r>
            <a:endParaRPr lang="en-IN" dirty="0"/>
          </a:p>
        </p:txBody>
      </p:sp>
      <p:sp>
        <p:nvSpPr>
          <p:cNvPr id="23" name="TextBox 22">
            <a:extLst>
              <a:ext uri="{FF2B5EF4-FFF2-40B4-BE49-F238E27FC236}">
                <a16:creationId xmlns:a16="http://schemas.microsoft.com/office/drawing/2014/main" id="{E5C146ED-9EA8-6E49-00FA-9E7F4983EE69}"/>
              </a:ext>
            </a:extLst>
          </p:cNvPr>
          <p:cNvSpPr txBox="1"/>
          <p:nvPr/>
        </p:nvSpPr>
        <p:spPr>
          <a:xfrm>
            <a:off x="801666" y="1315233"/>
            <a:ext cx="12776548" cy="6309420"/>
          </a:xfrm>
          <a:prstGeom prst="rect">
            <a:avLst/>
          </a:prstGeom>
          <a:noFill/>
        </p:spPr>
        <p:txBody>
          <a:bodyPr wrap="square" rtlCol="0">
            <a:spAutoFit/>
          </a:bodyPr>
          <a:lstStyle/>
          <a:p>
            <a:endParaRPr lang="en-IN" sz="3600" b="1" dirty="0"/>
          </a:p>
          <a:p>
            <a:r>
              <a:rPr lang="en-US" sz="3600" b="1" dirty="0"/>
              <a:t>⭐ Why R-CNN for Railway Track Fall Detection</a:t>
            </a:r>
          </a:p>
          <a:p>
            <a:endParaRPr lang="en-US" sz="3600" b="1" dirty="0"/>
          </a:p>
          <a:p>
            <a:r>
              <a:rPr lang="en-US" sz="3600" b="1" dirty="0"/>
              <a:t>     </a:t>
            </a:r>
            <a:r>
              <a:rPr lang="en-IN" sz="2800" b="1" u="sng" dirty="0">
                <a:latin typeface="Source Sans Pro" panose="020B0503030403020204" pitchFamily="34" charset="0"/>
                <a:ea typeface="Source Sans Pro" panose="020B0503030403020204" pitchFamily="34" charset="0"/>
              </a:rPr>
              <a:t>Steps Involved:</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Capture railway track images/videos using cameras.</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Preprocess data (resizing, normalization).</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Use R-CNN to generate region proposals.</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Extract features using CNN.</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Classify regions as normal track or faulty track.</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Localize faults such as cracks, breaks, or missing tracks.</a:t>
            </a:r>
          </a:p>
          <a:p>
            <a:pPr marL="514350" lvl="0" indent="-514350">
              <a:buFont typeface="+mj-lt"/>
              <a:buAutoNum type="arabicPeriod"/>
            </a:pPr>
            <a:r>
              <a:rPr lang="en-IN" sz="3200" dirty="0">
                <a:latin typeface="Source Sans Pro" panose="020B0503030403020204" pitchFamily="34" charset="0"/>
                <a:ea typeface="Source Sans Pro" panose="020B0503030403020204" pitchFamily="34" charset="0"/>
              </a:rPr>
              <a:t>Send alerts for maintenance action.</a:t>
            </a:r>
          </a:p>
          <a:p>
            <a:endParaRPr lang="en-IN" sz="36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4D589F-BD8F-6FF7-8687-168F8876A475}"/>
              </a:ext>
            </a:extLst>
          </p:cNvPr>
          <p:cNvSpPr/>
          <p:nvPr/>
        </p:nvSpPr>
        <p:spPr>
          <a:xfrm>
            <a:off x="3031958" y="290716"/>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p>
          <a:p>
            <a:pPr algn="ctr"/>
            <a:r>
              <a:rPr lang="en-US" sz="2400" b="1" dirty="0"/>
              <a:t>1. Capture Railway Track Images/Videos Using Cameras</a:t>
            </a:r>
          </a:p>
          <a:p>
            <a:pPr algn="ctr"/>
            <a:endParaRPr lang="en-US" dirty="0"/>
          </a:p>
        </p:txBody>
      </p:sp>
      <p:sp>
        <p:nvSpPr>
          <p:cNvPr id="5" name="Rectangle 1">
            <a:extLst>
              <a:ext uri="{FF2B5EF4-FFF2-40B4-BE49-F238E27FC236}">
                <a16:creationId xmlns:a16="http://schemas.microsoft.com/office/drawing/2014/main" id="{3A23EAAF-C562-AF3D-B5C3-7ACF9CA1A7E8}"/>
              </a:ext>
            </a:extLst>
          </p:cNvPr>
          <p:cNvSpPr>
            <a:spLocks noChangeArrowheads="1"/>
          </p:cNvSpPr>
          <p:nvPr/>
        </p:nvSpPr>
        <p:spPr bwMode="auto">
          <a:xfrm>
            <a:off x="537881" y="1606421"/>
            <a:ext cx="1318165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High-resolution cameras are placed along railway tracks or mounted on inspection vehicles.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Cameras continuously record images and video of the railway track surface.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Captures track alignment, rail joints, sleepers, and surrounding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Detects visible defects such as cracks, missing rails, fallen tracks, and obstacles.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Works in real time to provide continuous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Data can be collected during both stationary and moving train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Reduces the need for manual physical inspection.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Ensures early identification of potential hazards.</a:t>
            </a:r>
          </a:p>
        </p:txBody>
      </p:sp>
    </p:spTree>
    <p:extLst>
      <p:ext uri="{BB962C8B-B14F-4D97-AF65-F5344CB8AC3E}">
        <p14:creationId xmlns:p14="http://schemas.microsoft.com/office/powerpoint/2010/main" val="2193893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FFE3E6-7E14-4849-B56D-A030313454EF}"/>
              </a:ext>
            </a:extLst>
          </p:cNvPr>
          <p:cNvSpPr/>
          <p:nvPr/>
        </p:nvSpPr>
        <p:spPr>
          <a:xfrm>
            <a:off x="3542946" y="290716"/>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dirty="0"/>
              <a:t>2. </a:t>
            </a:r>
            <a:r>
              <a:rPr lang="en-IN" sz="2800" b="1" dirty="0"/>
              <a:t>Preprocess Data (Resizing, Normalization)</a:t>
            </a:r>
            <a:endParaRPr lang="en-US" sz="2800" b="1" dirty="0"/>
          </a:p>
        </p:txBody>
      </p:sp>
      <p:sp>
        <p:nvSpPr>
          <p:cNvPr id="5" name="Rectangle 1">
            <a:extLst>
              <a:ext uri="{FF2B5EF4-FFF2-40B4-BE49-F238E27FC236}">
                <a16:creationId xmlns:a16="http://schemas.microsoft.com/office/drawing/2014/main" id="{D061DCCC-DE15-1A8B-E109-62E397D12DDC}"/>
              </a:ext>
            </a:extLst>
          </p:cNvPr>
          <p:cNvSpPr>
            <a:spLocks noChangeArrowheads="1"/>
          </p:cNvSpPr>
          <p:nvPr/>
        </p:nvSpPr>
        <p:spPr bwMode="auto">
          <a:xfrm>
            <a:off x="1391770" y="1852642"/>
            <a:ext cx="1184685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Raw images are resized to a standard input size for the neural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Normalization scales pixel values to improve model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Noise removal reduces effects of dust, blur, and camera vibration.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Improves contrast and visibility of track defects.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Removes unwanted background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Enhances consistency across different lighting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Prepares clean and uniform data for accurate model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Improves overall detection accuracy and speed.</a:t>
            </a:r>
          </a:p>
        </p:txBody>
      </p:sp>
    </p:spTree>
    <p:extLst>
      <p:ext uri="{BB962C8B-B14F-4D97-AF65-F5344CB8AC3E}">
        <p14:creationId xmlns:p14="http://schemas.microsoft.com/office/powerpoint/2010/main" val="2220392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EB0B7E-FF60-B0AF-6DD1-F343660086DB}"/>
              </a:ext>
            </a:extLst>
          </p:cNvPr>
          <p:cNvSpPr/>
          <p:nvPr/>
        </p:nvSpPr>
        <p:spPr>
          <a:xfrm>
            <a:off x="3731205" y="411740"/>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dirty="0"/>
              <a:t>3. Use R-CNN to Generate Region Proposals</a:t>
            </a:r>
          </a:p>
        </p:txBody>
      </p:sp>
      <p:sp>
        <p:nvSpPr>
          <p:cNvPr id="3" name="Rectangle 1">
            <a:extLst>
              <a:ext uri="{FF2B5EF4-FFF2-40B4-BE49-F238E27FC236}">
                <a16:creationId xmlns:a16="http://schemas.microsoft.com/office/drawing/2014/main" id="{C26B94C4-AB0A-6B26-E5DD-8F96677F9974}"/>
              </a:ext>
            </a:extLst>
          </p:cNvPr>
          <p:cNvSpPr>
            <a:spLocks noChangeArrowheads="1"/>
          </p:cNvSpPr>
          <p:nvPr/>
        </p:nvSpPr>
        <p:spPr bwMode="auto">
          <a:xfrm>
            <a:off x="1163170" y="1731619"/>
            <a:ext cx="1230405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Region Proposal Network (RPN) scans the entire image systematically.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Identifies candidate regions where defects may be present.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Focuses on track areas instead of background objects.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Generates multiple region proposals of different sizes and shapes.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Assigns scores to regions based on defect probability.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Reduces unnecessary computation on irrelevant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Improves efficiency and speed of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Ensures small defects are not missed.</a:t>
            </a:r>
          </a:p>
        </p:txBody>
      </p:sp>
    </p:spTree>
    <p:extLst>
      <p:ext uri="{BB962C8B-B14F-4D97-AF65-F5344CB8AC3E}">
        <p14:creationId xmlns:p14="http://schemas.microsoft.com/office/powerpoint/2010/main" val="1985680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46DE47-7D4D-07E5-1FDC-9B083B6A5A38}"/>
              </a:ext>
            </a:extLst>
          </p:cNvPr>
          <p:cNvSpPr/>
          <p:nvPr/>
        </p:nvSpPr>
        <p:spPr>
          <a:xfrm>
            <a:off x="3731205" y="411740"/>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2800" b="1" dirty="0"/>
              <a:t>4. Extract Features Using CNN</a:t>
            </a:r>
            <a:endParaRPr lang="en-US" sz="2800" b="1" dirty="0"/>
          </a:p>
        </p:txBody>
      </p:sp>
      <p:sp>
        <p:nvSpPr>
          <p:cNvPr id="3" name="Rectangle 1">
            <a:extLst>
              <a:ext uri="{FF2B5EF4-FFF2-40B4-BE49-F238E27FC236}">
                <a16:creationId xmlns:a16="http://schemas.microsoft.com/office/drawing/2014/main" id="{96C5A21B-17F3-692F-7A17-41C21BCDBED1}"/>
              </a:ext>
            </a:extLst>
          </p:cNvPr>
          <p:cNvSpPr>
            <a:spLocks noChangeArrowheads="1"/>
          </p:cNvSpPr>
          <p:nvPr/>
        </p:nvSpPr>
        <p:spPr bwMode="auto">
          <a:xfrm>
            <a:off x="1559859" y="1964393"/>
            <a:ext cx="1118287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Each region proposal is passed through convolutional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CNN extracts low-level features like edges, lines, and textures.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Higher layers extract complex features such as cracks and gaps.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Learns defect patterns automatically from training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Eliminates the need for manual feature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Handles variations in track appearance.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Improves robustness under different environmental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Enables accurate understanding of track conditions.</a:t>
            </a:r>
          </a:p>
        </p:txBody>
      </p:sp>
    </p:spTree>
    <p:extLst>
      <p:ext uri="{BB962C8B-B14F-4D97-AF65-F5344CB8AC3E}">
        <p14:creationId xmlns:p14="http://schemas.microsoft.com/office/powerpoint/2010/main" val="389756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FC054-9907-2F78-6A14-461E22C52BC9}"/>
              </a:ext>
            </a:extLst>
          </p:cNvPr>
          <p:cNvSpPr/>
          <p:nvPr/>
        </p:nvSpPr>
        <p:spPr>
          <a:xfrm>
            <a:off x="3731205" y="411740"/>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b="1" dirty="0"/>
              <a:t>5. Classify Regions as Normal Track or Faulty Track</a:t>
            </a:r>
          </a:p>
        </p:txBody>
      </p:sp>
      <p:sp>
        <p:nvSpPr>
          <p:cNvPr id="3" name="Rectangle 1">
            <a:extLst>
              <a:ext uri="{FF2B5EF4-FFF2-40B4-BE49-F238E27FC236}">
                <a16:creationId xmlns:a16="http://schemas.microsoft.com/office/drawing/2014/main" id="{1C11215B-8A6D-05E4-38E9-F13FEDA2E0AE}"/>
              </a:ext>
            </a:extLst>
          </p:cNvPr>
          <p:cNvSpPr>
            <a:spLocks noChangeArrowheads="1"/>
          </p:cNvSpPr>
          <p:nvPr/>
        </p:nvSpPr>
        <p:spPr bwMode="auto">
          <a:xfrm>
            <a:off x="2205318" y="1852642"/>
            <a:ext cx="1171238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Extracted features are analyzed by the classifier.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Regions are labeled as normal or defective.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Faulty regions are further classified into crack, break, or missing track.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Confidence score is generated for each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Helps reduce false alarms.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Ensures reliable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Improves trust in the automated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Enables prioritization of critical defects.</a:t>
            </a:r>
          </a:p>
        </p:txBody>
      </p:sp>
    </p:spTree>
    <p:extLst>
      <p:ext uri="{BB962C8B-B14F-4D97-AF65-F5344CB8AC3E}">
        <p14:creationId xmlns:p14="http://schemas.microsoft.com/office/powerpoint/2010/main" val="3430099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0ECFF2-51A2-1222-6070-A55F79B78709}"/>
              </a:ext>
            </a:extLst>
          </p:cNvPr>
          <p:cNvSpPr/>
          <p:nvPr/>
        </p:nvSpPr>
        <p:spPr>
          <a:xfrm>
            <a:off x="3731205" y="411740"/>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b="1" dirty="0"/>
              <a:t>6. Localize Faults Such as Cracks, Breaks, or Missing Tracks</a:t>
            </a:r>
          </a:p>
        </p:txBody>
      </p:sp>
      <p:sp>
        <p:nvSpPr>
          <p:cNvPr id="4" name="TextBox 3">
            <a:extLst>
              <a:ext uri="{FF2B5EF4-FFF2-40B4-BE49-F238E27FC236}">
                <a16:creationId xmlns:a16="http://schemas.microsoft.com/office/drawing/2014/main" id="{F49D0767-B2F5-AABB-403C-5FC684AF9350}"/>
              </a:ext>
            </a:extLst>
          </p:cNvPr>
          <p:cNvSpPr txBox="1"/>
          <p:nvPr/>
        </p:nvSpPr>
        <p:spPr>
          <a:xfrm>
            <a:off x="3160058" y="2098863"/>
            <a:ext cx="10165977" cy="4031873"/>
          </a:xfrm>
          <a:prstGeom prst="rect">
            <a:avLst/>
          </a:prstGeom>
          <a:noFill/>
        </p:spPr>
        <p:txBody>
          <a:bodyPr wrap="square">
            <a:spAutoFit/>
          </a:bodyPr>
          <a:lstStyle/>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Bounding boxes are drawn around detected defects.</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Clearly shows defect location on the railway track.</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Helps visualize severity and size of the damage.</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Allows precise identification of affected areas.</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Assists maintenance teams in quick navigation.</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Reduces time needed for inspection and repair.</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Improves maintenance planning and scheduling.</a:t>
            </a:r>
          </a:p>
          <a:p>
            <a:pPr>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Supports accurate reporting and documentation.</a:t>
            </a:r>
          </a:p>
        </p:txBody>
      </p:sp>
    </p:spTree>
    <p:extLst>
      <p:ext uri="{BB962C8B-B14F-4D97-AF65-F5344CB8AC3E}">
        <p14:creationId xmlns:p14="http://schemas.microsoft.com/office/powerpoint/2010/main" val="2902624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B3DBEB-C63F-F750-2CA0-D514E1E6B33E}"/>
              </a:ext>
            </a:extLst>
          </p:cNvPr>
          <p:cNvSpPr/>
          <p:nvPr/>
        </p:nvSpPr>
        <p:spPr>
          <a:xfrm>
            <a:off x="3758099" y="411740"/>
            <a:ext cx="8193505"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b="1" dirty="0"/>
              <a:t>7. Send Alerts for Maintenance Action</a:t>
            </a:r>
          </a:p>
        </p:txBody>
      </p:sp>
      <p:sp>
        <p:nvSpPr>
          <p:cNvPr id="3" name="Rectangle 1">
            <a:extLst>
              <a:ext uri="{FF2B5EF4-FFF2-40B4-BE49-F238E27FC236}">
                <a16:creationId xmlns:a16="http://schemas.microsoft.com/office/drawing/2014/main" id="{98AC5995-542D-D762-DD6E-943DAD037C9F}"/>
              </a:ext>
            </a:extLst>
          </p:cNvPr>
          <p:cNvSpPr>
            <a:spLocks noChangeArrowheads="1"/>
          </p:cNvSpPr>
          <p:nvPr/>
        </p:nvSpPr>
        <p:spPr bwMode="auto">
          <a:xfrm>
            <a:off x="3133165" y="1950946"/>
            <a:ext cx="9717725"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Alerts are triggered immediately after defect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Siren alarm warns nearby railway staff.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Notification can be sent to maintenance authorities.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Enables quick response to dangerous situations.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Prevents accidents by early warning.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Supports preventive and predictive maintenance.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Reduces service interruptions.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Improves overall railway safety and reliability.</a:t>
            </a:r>
          </a:p>
        </p:txBody>
      </p:sp>
    </p:spTree>
    <p:extLst>
      <p:ext uri="{BB962C8B-B14F-4D97-AF65-F5344CB8AC3E}">
        <p14:creationId xmlns:p14="http://schemas.microsoft.com/office/powerpoint/2010/main" val="1700456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6EE6-08EE-4770-A364-EAEA0A95F91A}"/>
            </a:ext>
          </a:extLst>
        </p:cNvPr>
        <p:cNvGrpSpPr/>
        <p:nvPr/>
      </p:nvGrpSpPr>
      <p:grpSpPr>
        <a:xfrm>
          <a:off x="0" y="0"/>
          <a:ext cx="0" cy="0"/>
          <a:chOff x="0" y="0"/>
          <a:chExt cx="0" cy="0"/>
        </a:xfrm>
      </p:grpSpPr>
      <p:sp>
        <p:nvSpPr>
          <p:cNvPr id="13" name="Text 11">
            <a:extLst>
              <a:ext uri="{FF2B5EF4-FFF2-40B4-BE49-F238E27FC236}">
                <a16:creationId xmlns:a16="http://schemas.microsoft.com/office/drawing/2014/main" id="{F8C1924E-29CC-37CF-D6F4-963C3112923B}"/>
              </a:ext>
            </a:extLst>
          </p:cNvPr>
          <p:cNvSpPr/>
          <p:nvPr/>
        </p:nvSpPr>
        <p:spPr>
          <a:xfrm>
            <a:off x="9337358" y="1919288"/>
            <a:ext cx="4331732" cy="387072"/>
          </a:xfrm>
          <a:prstGeom prst="rect">
            <a:avLst/>
          </a:prstGeom>
          <a:noFill/>
          <a:ln/>
        </p:spPr>
        <p:txBody>
          <a:bodyPr wrap="none" lIns="0" tIns="0" rIns="0" bIns="0" rtlCol="0" anchor="t"/>
          <a:lstStyle/>
          <a:p>
            <a:pPr marL="0" indent="0" algn="l">
              <a:lnSpc>
                <a:spcPts val="2950"/>
              </a:lnSpc>
              <a:buNone/>
            </a:pPr>
            <a:endParaRPr lang="en-US" sz="1850" dirty="0"/>
          </a:p>
        </p:txBody>
      </p:sp>
      <p:sp>
        <p:nvSpPr>
          <p:cNvPr id="15" name="Text 12">
            <a:extLst>
              <a:ext uri="{FF2B5EF4-FFF2-40B4-BE49-F238E27FC236}">
                <a16:creationId xmlns:a16="http://schemas.microsoft.com/office/drawing/2014/main" id="{B7339EDC-F6EE-A9F8-C56B-429A3A30D1BB}"/>
              </a:ext>
            </a:extLst>
          </p:cNvPr>
          <p:cNvSpPr/>
          <p:nvPr/>
        </p:nvSpPr>
        <p:spPr>
          <a:xfrm>
            <a:off x="9337358" y="7002066"/>
            <a:ext cx="4331732" cy="379452"/>
          </a:xfrm>
          <a:prstGeom prst="rect">
            <a:avLst/>
          </a:prstGeom>
          <a:noFill/>
          <a:ln/>
        </p:spPr>
        <p:txBody>
          <a:bodyPr wrap="none" lIns="0" tIns="0" rIns="0" bIns="0" rtlCol="0" anchor="t"/>
          <a:lstStyle/>
          <a:p>
            <a:pPr marL="0" indent="0" algn="l">
              <a:lnSpc>
                <a:spcPts val="2950"/>
              </a:lnSpc>
              <a:buNone/>
            </a:pPr>
            <a:r>
              <a:rPr lang="en-US" sz="1850" kern="0" spc="-37" dirty="0">
                <a:solidFill>
                  <a:srgbClr val="272525"/>
                </a:solidFill>
                <a:latin typeface="Source Sans Pro" pitchFamily="34" charset="0"/>
                <a:ea typeface="Source Sans Pro" pitchFamily="34" charset="-122"/>
                <a:cs typeface="Source Sans Pro" pitchFamily="34" charset="-120"/>
              </a:rPr>
              <a:t> </a:t>
            </a:r>
            <a:endParaRPr lang="en-US" sz="1850" dirty="0"/>
          </a:p>
        </p:txBody>
      </p:sp>
      <p:sp>
        <p:nvSpPr>
          <p:cNvPr id="2" name="Rectangle 1">
            <a:extLst>
              <a:ext uri="{FF2B5EF4-FFF2-40B4-BE49-F238E27FC236}">
                <a16:creationId xmlns:a16="http://schemas.microsoft.com/office/drawing/2014/main" id="{78377E0A-9545-C286-A1F1-110EB7FF60D5}"/>
              </a:ext>
            </a:extLst>
          </p:cNvPr>
          <p:cNvSpPr/>
          <p:nvPr/>
        </p:nvSpPr>
        <p:spPr>
          <a:xfrm>
            <a:off x="2225842" y="276343"/>
            <a:ext cx="10431379"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TextBox 21">
            <a:extLst>
              <a:ext uri="{FF2B5EF4-FFF2-40B4-BE49-F238E27FC236}">
                <a16:creationId xmlns:a16="http://schemas.microsoft.com/office/drawing/2014/main" id="{69F66A60-D685-3BC4-4558-78806EBED97F}"/>
              </a:ext>
            </a:extLst>
          </p:cNvPr>
          <p:cNvSpPr txBox="1"/>
          <p:nvPr/>
        </p:nvSpPr>
        <p:spPr>
          <a:xfrm>
            <a:off x="3922469" y="356367"/>
            <a:ext cx="8818854" cy="1354217"/>
          </a:xfrm>
          <a:prstGeom prst="rect">
            <a:avLst/>
          </a:prstGeom>
          <a:noFill/>
        </p:spPr>
        <p:txBody>
          <a:bodyPr wrap="square" rtlCol="0">
            <a:spAutoFit/>
          </a:bodyPr>
          <a:lstStyle/>
          <a:p>
            <a:r>
              <a:rPr lang="en-US" sz="3200" b="1" dirty="0"/>
              <a:t>             PROPOSED APPROACH</a:t>
            </a:r>
          </a:p>
          <a:p>
            <a:endParaRPr lang="en-US" sz="3200" b="1" dirty="0"/>
          </a:p>
          <a:p>
            <a:endParaRPr lang="en-IN" dirty="0"/>
          </a:p>
        </p:txBody>
      </p:sp>
      <p:sp>
        <p:nvSpPr>
          <p:cNvPr id="4" name="AutoShape 2" descr="Deep Learning (Fast R-CNN)-Based Evaluation of Rail Surface Defects">
            <a:extLst>
              <a:ext uri="{FF2B5EF4-FFF2-40B4-BE49-F238E27FC236}">
                <a16:creationId xmlns:a16="http://schemas.microsoft.com/office/drawing/2014/main" id="{E36EBCCA-42E9-1D24-6D17-7ED06515F7D6}"/>
              </a:ext>
            </a:extLst>
          </p:cNvPr>
          <p:cNvSpPr>
            <a:spLocks noChangeAspect="1" noChangeArrowheads="1"/>
          </p:cNvSpPr>
          <p:nvPr/>
        </p:nvSpPr>
        <p:spPr bwMode="auto">
          <a:xfrm>
            <a:off x="3908121" y="707721"/>
            <a:ext cx="3559479" cy="355947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Deep Learning (Fast R-CNN)-Based Evaluation of Rail Surface Defects">
            <a:extLst>
              <a:ext uri="{FF2B5EF4-FFF2-40B4-BE49-F238E27FC236}">
                <a16:creationId xmlns:a16="http://schemas.microsoft.com/office/drawing/2014/main" id="{465F7DEE-BD17-9D41-ACAA-7774FB1A7EE6}"/>
              </a:ext>
            </a:extLst>
          </p:cNvPr>
          <p:cNvSpPr>
            <a:spLocks noChangeAspect="1" noChangeArrowheads="1"/>
          </p:cNvSpPr>
          <p:nvPr/>
        </p:nvSpPr>
        <p:spPr bwMode="auto">
          <a:xfrm>
            <a:off x="3043825" y="-156575"/>
            <a:ext cx="5185775" cy="51857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508543D7-49BE-D994-8623-D29B1130059C}"/>
              </a:ext>
            </a:extLst>
          </p:cNvPr>
          <p:cNvPicPr>
            <a:picLocks noChangeAspect="1"/>
          </p:cNvPicPr>
          <p:nvPr/>
        </p:nvPicPr>
        <p:blipFill>
          <a:blip r:embed="rId3"/>
          <a:stretch>
            <a:fillRect/>
          </a:stretch>
        </p:blipFill>
        <p:spPr>
          <a:xfrm>
            <a:off x="1540701" y="1569494"/>
            <a:ext cx="11373633" cy="5812023"/>
          </a:xfrm>
          <a:prstGeom prst="rect">
            <a:avLst/>
          </a:prstGeom>
        </p:spPr>
      </p:pic>
    </p:spTree>
    <p:extLst>
      <p:ext uri="{BB962C8B-B14F-4D97-AF65-F5344CB8AC3E}">
        <p14:creationId xmlns:p14="http://schemas.microsoft.com/office/powerpoint/2010/main" val="31418062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843089-080F-B6A2-4B9C-30360CC91233}"/>
              </a:ext>
            </a:extLst>
          </p:cNvPr>
          <p:cNvSpPr>
            <a:spLocks noGrp="1"/>
          </p:cNvSpPr>
          <p:nvPr>
            <p:ph type="title"/>
          </p:nvPr>
        </p:nvSpPr>
        <p:spPr>
          <a:xfrm>
            <a:off x="2931090" y="731839"/>
            <a:ext cx="9782828" cy="959176"/>
          </a:xfrm>
          <a:prstGeom prst="rect">
            <a:avLst/>
          </a:prstGeom>
        </p:spPr>
        <p:style>
          <a:lnRef idx="1">
            <a:schemeClr val="accent4"/>
          </a:lnRef>
          <a:fillRef idx="3">
            <a:schemeClr val="accent4"/>
          </a:fillRef>
          <a:effectRef idx="2">
            <a:schemeClr val="accent4"/>
          </a:effectRef>
          <a:fontRef idx="minor">
            <a:schemeClr val="lt1"/>
          </a:fontRef>
        </p:style>
        <p:txBody>
          <a:bodyPr rtlCol="0" anchor="ctr">
            <a:normAutofit/>
          </a:bodyPr>
          <a:lstStyle/>
          <a:p>
            <a:pPr algn="ctr"/>
            <a:r>
              <a:rPr lang="en-IN" sz="3200" b="1" dirty="0"/>
              <a:t>ADVANTAGES</a:t>
            </a:r>
          </a:p>
        </p:txBody>
      </p:sp>
      <p:sp>
        <p:nvSpPr>
          <p:cNvPr id="6" name="Rectangle 2">
            <a:extLst>
              <a:ext uri="{FF2B5EF4-FFF2-40B4-BE49-F238E27FC236}">
                <a16:creationId xmlns:a16="http://schemas.microsoft.com/office/drawing/2014/main" id="{696FD909-CF5E-7AE5-EC73-3B50B1A18FF1}"/>
              </a:ext>
            </a:extLst>
          </p:cNvPr>
          <p:cNvSpPr>
            <a:spLocks noChangeArrowheads="1"/>
          </p:cNvSpPr>
          <p:nvPr/>
        </p:nvSpPr>
        <p:spPr bwMode="auto">
          <a:xfrm>
            <a:off x="712694" y="2048088"/>
            <a:ext cx="1378454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Reduces manual inspection effort</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Minimizes the need for workers to physically inspect railway tracks, improving safety and saving time.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High detection accuracy using Faster R-CNN</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Deep learning helps detect cracks, track falls, and obstacles more accurately than traditional methods.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Precise defect localization</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Bounding boxes clearly show the exact position of defects, making maintenance easier.</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Immediate alert system</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Siren alarm provides quick warning so that action can be taken without delay.</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Real-time monitoring</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Tracks are continuously monitored, allowing early detection of faults.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Reduces human error</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Automated detection avoids mistakes caused by fatigue or poor visibility.</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Supports preventive maintenance</a:t>
            </a:r>
            <a:b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24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Detecting defects early helps prevent major failures and accidents.</a:t>
            </a:r>
          </a:p>
        </p:txBody>
      </p:sp>
    </p:spTree>
    <p:extLst>
      <p:ext uri="{BB962C8B-B14F-4D97-AF65-F5344CB8AC3E}">
        <p14:creationId xmlns:p14="http://schemas.microsoft.com/office/powerpoint/2010/main" val="34592721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E549081C-C17A-0426-17D4-60461298AC3F}"/>
              </a:ext>
            </a:extLst>
          </p:cNvPr>
          <p:cNvSpPr txBox="1">
            <a:spLocks/>
          </p:cNvSpPr>
          <p:nvPr/>
        </p:nvSpPr>
        <p:spPr>
          <a:xfrm>
            <a:off x="2554573" y="557027"/>
            <a:ext cx="9782828" cy="959176"/>
          </a:xfrm>
          <a:prstGeom prst="rect">
            <a:avLst/>
          </a:prstGeom>
        </p:spPr>
        <p:style>
          <a:lnRef idx="1">
            <a:schemeClr val="accent4"/>
          </a:lnRef>
          <a:fillRef idx="3">
            <a:schemeClr val="accent4"/>
          </a:fillRef>
          <a:effectRef idx="2">
            <a:schemeClr val="accent4"/>
          </a:effectRef>
          <a:fontRef idx="minor">
            <a:schemeClr val="lt1"/>
          </a:fontRef>
        </p:style>
        <p:txBody>
          <a:bodyPr rtlCol="0" anchor="ctr">
            <a:normAutofit/>
          </a:bodyPr>
          <a:lstStyle>
            <a:lvl1pPr algn="l" defTabSz="548640" rtl="0" eaLnBrk="1" latinLnBrk="0" hangingPunct="1">
              <a:spcBef>
                <a:spcPct val="0"/>
              </a:spcBef>
              <a:buNone/>
              <a:defRPr sz="4320" kern="1200" cap="all">
                <a:ln w="3175" cmpd="sng">
                  <a:noFill/>
                </a:ln>
                <a:solidFill>
                  <a:schemeClr val="lt1"/>
                </a:solidFill>
                <a:effectLst/>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pPr algn="ctr"/>
            <a:r>
              <a:rPr lang="en-IN" sz="3200" b="1" dirty="0" err="1"/>
              <a:t>disADVANTAGES</a:t>
            </a:r>
            <a:endParaRPr lang="en-IN" sz="3200" b="1" dirty="0"/>
          </a:p>
        </p:txBody>
      </p:sp>
      <p:sp>
        <p:nvSpPr>
          <p:cNvPr id="4" name="Rectangle 2">
            <a:extLst>
              <a:ext uri="{FF2B5EF4-FFF2-40B4-BE49-F238E27FC236}">
                <a16:creationId xmlns:a16="http://schemas.microsoft.com/office/drawing/2014/main" id="{364ECC11-0460-1174-882B-7C411E52BAF3}"/>
              </a:ext>
            </a:extLst>
          </p:cNvPr>
          <p:cNvSpPr>
            <a:spLocks noChangeArrowheads="1"/>
          </p:cNvSpPr>
          <p:nvPr/>
        </p:nvSpPr>
        <p:spPr bwMode="auto">
          <a:xfrm>
            <a:off x="1008529" y="1929150"/>
            <a:ext cx="1368676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Requires a large annotated dataset</a:t>
            </a:r>
            <a:b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Needs many labeled images to train the model accurately.</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High computational cost</a:t>
            </a:r>
            <a:b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Training and processing require powerful hardware like GPUs.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Performance depends on image quality</a:t>
            </a:r>
            <a:b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Poor lighting, shadows, or bad camera angles can affect detection accuracy.</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Initial setup cost is high</a:t>
            </a:r>
            <a:b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Cameras, systems, and installation increase the starting cost.</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2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Possibility of false detections</a:t>
            </a:r>
            <a:b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b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Sometimes non-defect objects may be detected as faults.</a:t>
            </a:r>
          </a:p>
        </p:txBody>
      </p:sp>
    </p:spTree>
    <p:extLst>
      <p:ext uri="{BB962C8B-B14F-4D97-AF65-F5344CB8AC3E}">
        <p14:creationId xmlns:p14="http://schemas.microsoft.com/office/powerpoint/2010/main" val="1963241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4BC007-FE28-8DB5-1B51-9A57CAB1C5FE}"/>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4">
            <a:extLst>
              <a:ext uri="{FF2B5EF4-FFF2-40B4-BE49-F238E27FC236}">
                <a16:creationId xmlns:a16="http://schemas.microsoft.com/office/drawing/2014/main" id="{18ACE97D-A8DC-7F10-FB29-175211274463}"/>
              </a:ext>
            </a:extLst>
          </p:cNvPr>
          <p:cNvSpPr txBox="1"/>
          <p:nvPr/>
        </p:nvSpPr>
        <p:spPr>
          <a:xfrm>
            <a:off x="5394158" y="357887"/>
            <a:ext cx="10820400" cy="584775"/>
          </a:xfrm>
          <a:prstGeom prst="rect">
            <a:avLst/>
          </a:prstGeom>
          <a:noFill/>
        </p:spPr>
        <p:txBody>
          <a:bodyPr wrap="square" rtlCol="0">
            <a:spAutoFit/>
          </a:bodyPr>
          <a:lstStyle/>
          <a:p>
            <a:r>
              <a:rPr lang="en-US" sz="3200" b="1" dirty="0"/>
              <a:t>MODULES USED</a:t>
            </a:r>
          </a:p>
        </p:txBody>
      </p:sp>
      <p:sp>
        <p:nvSpPr>
          <p:cNvPr id="8" name="Rectangle 2">
            <a:extLst>
              <a:ext uri="{FF2B5EF4-FFF2-40B4-BE49-F238E27FC236}">
                <a16:creationId xmlns:a16="http://schemas.microsoft.com/office/drawing/2014/main" id="{21D16AB4-D3EB-8CB5-3349-1C313F27C9B8}"/>
              </a:ext>
            </a:extLst>
          </p:cNvPr>
          <p:cNvSpPr>
            <a:spLocks noChangeArrowheads="1"/>
          </p:cNvSpPr>
          <p:nvPr/>
        </p:nvSpPr>
        <p:spPr bwMode="auto">
          <a:xfrm>
            <a:off x="757237" y="4155218"/>
            <a:ext cx="128143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EC3D79CA-5710-0EAB-CF34-5520AD96E117}"/>
              </a:ext>
            </a:extLst>
          </p:cNvPr>
          <p:cNvSpPr>
            <a:spLocks noChangeArrowheads="1"/>
          </p:cNvSpPr>
          <p:nvPr/>
        </p:nvSpPr>
        <p:spPr bwMode="auto">
          <a:xfrm>
            <a:off x="2016691" y="2104847"/>
            <a:ext cx="1155493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Region Proposal Module (RPN):</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Identifies possible defect regions.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Image Acquisition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Captures railway track images/video through a camera.</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Preprocessing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Enhances and prepares images for detection.</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Feature Extraction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Uses CNN to extract important track features.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Faster R-CNN Detection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Detects cracks, falls, and obstacles with bounding boxes.</a:t>
            </a:r>
          </a:p>
          <a:p>
            <a:pPr marL="457200" lvl="0" indent="-457200" eaLnBrk="0" fontAlgn="base" hangingPunct="0">
              <a:spcBef>
                <a:spcPct val="0"/>
              </a:spcBef>
              <a:spcAft>
                <a:spcPct val="0"/>
              </a:spcAft>
              <a:buFont typeface="Courier New" panose="02070309020205020404" pitchFamily="49" charset="0"/>
              <a:buChar char="o"/>
            </a:pPr>
            <a:r>
              <a:rPr lang="en-US" sz="2800" b="1" dirty="0"/>
              <a:t>Bounding Box Detection Module:</a:t>
            </a:r>
            <a:r>
              <a:rPr lang="en-US" sz="2800" dirty="0"/>
              <a:t> Generates bounding boxes around cracks, falls, and obstacles.</a:t>
            </a:r>
            <a:endPar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Alert Module (Siren Alarm):</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Triggers alarm when a defect is found.</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800" b="1"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Output Visualization Module:</a:t>
            </a:r>
            <a:r>
              <a:rPr kumimoji="0" lang="en-US" altLang="en-US" sz="28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 Displays detected defects on the screen.</a:t>
            </a:r>
          </a:p>
        </p:txBody>
      </p:sp>
    </p:spTree>
    <p:extLst>
      <p:ext uri="{BB962C8B-B14F-4D97-AF65-F5344CB8AC3E}">
        <p14:creationId xmlns:p14="http://schemas.microsoft.com/office/powerpoint/2010/main" val="5107557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7E9385-73D7-9A38-9876-2E01B4AA8641}"/>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 1"/>
          <p:cNvSpPr/>
          <p:nvPr/>
        </p:nvSpPr>
        <p:spPr>
          <a:xfrm>
            <a:off x="597595" y="1754248"/>
            <a:ext cx="12692896" cy="395049"/>
          </a:xfrm>
          <a:prstGeom prst="rect">
            <a:avLst/>
          </a:prstGeom>
          <a:noFill/>
          <a:ln/>
        </p:spPr>
        <p:txBody>
          <a:bodyPr wrap="none" lIns="0" tIns="0" rIns="0" bIns="0" rtlCol="0" anchor="t"/>
          <a:lstStyle/>
          <a:p>
            <a:pPr marL="342900" indent="-342900" algn="l">
              <a:lnSpc>
                <a:spcPts val="3100"/>
              </a:lnSpc>
              <a:buSzPct val="100000"/>
              <a:buChar char="•"/>
            </a:pPr>
            <a:endParaRPr lang="en-US" sz="3600" dirty="0">
              <a:effectLst>
                <a:outerShdw blurRad="38100" dist="38100" dir="2700000" algn="tl">
                  <a:srgbClr val="000000">
                    <a:alpha val="43137"/>
                  </a:srgbClr>
                </a:outerShdw>
              </a:effectLst>
            </a:endParaRPr>
          </a:p>
        </p:txBody>
      </p:sp>
      <p:sp>
        <p:nvSpPr>
          <p:cNvPr id="4" name="Text 2"/>
          <p:cNvSpPr/>
          <p:nvPr/>
        </p:nvSpPr>
        <p:spPr>
          <a:xfrm>
            <a:off x="2553698" y="1596560"/>
            <a:ext cx="12908795" cy="5438626"/>
          </a:xfrm>
          <a:prstGeom prst="rect">
            <a:avLst/>
          </a:prstGeom>
        </p:spPr>
        <p:txBody>
          <a:bodyPr wrap="none" lIns="0" tIns="0" rIns="0" bIns="0" rtlCol="0" anchor="t"/>
          <a:lstStyle/>
          <a:p>
            <a:r>
              <a:rPr lang="en-IN" sz="2800" b="1" dirty="0">
                <a:latin typeface="Source Sans Pro" panose="020B0503030403020204" pitchFamily="34" charset="0"/>
                <a:ea typeface="Source Sans Pro" panose="020B0503030403020204" pitchFamily="34" charset="0"/>
              </a:rPr>
              <a:t> </a:t>
            </a:r>
            <a:r>
              <a:rPr lang="en-IN" sz="2800" b="1" u="sng" dirty="0">
                <a:latin typeface="Source Sans Pro" panose="020B0503030403020204" pitchFamily="34" charset="0"/>
                <a:ea typeface="Source Sans Pro" panose="020B0503030403020204" pitchFamily="34" charset="0"/>
              </a:rPr>
              <a:t>Hardware Requirements  :</a:t>
            </a:r>
          </a:p>
          <a:p>
            <a:pPr marL="457200" indent="-457200">
              <a:buFont typeface="Courier New" panose="02070309020205020404" pitchFamily="49" charset="0"/>
              <a:buChar char="o"/>
            </a:pPr>
            <a:r>
              <a:rPr lang="en-IN" sz="2800" b="1" dirty="0">
                <a:latin typeface="Source Sans Pro" panose="020B0503030403020204" pitchFamily="34" charset="0"/>
                <a:ea typeface="Source Sans Pro" panose="020B0503030403020204" pitchFamily="34" charset="0"/>
              </a:rPr>
              <a:t> </a:t>
            </a:r>
            <a:r>
              <a:rPr lang="en-IN" sz="2800" dirty="0">
                <a:latin typeface="Source Sans Pro" panose="020B0503030403020204" pitchFamily="34" charset="0"/>
                <a:ea typeface="Source Sans Pro" panose="020B0503030403020204" pitchFamily="34" charset="0"/>
              </a:rPr>
              <a:t>Camera / Webcam</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Laptop/PC with 8–16 GB RAM</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GPU (optional but recommended for training)</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Speaker/Buzzer for siren alarm</a:t>
            </a:r>
          </a:p>
          <a:p>
            <a:br>
              <a:rPr lang="en-IN" sz="2800" dirty="0">
                <a:latin typeface="Source Sans Pro" panose="020B0503030403020204" pitchFamily="34" charset="0"/>
                <a:ea typeface="Source Sans Pro" panose="020B0503030403020204" pitchFamily="34" charset="0"/>
              </a:rPr>
            </a:br>
            <a:endParaRPr lang="en-IN" sz="2800" dirty="0">
              <a:latin typeface="Source Sans Pro" panose="020B0503030403020204" pitchFamily="34" charset="0"/>
              <a:ea typeface="Source Sans Pro" panose="020B0503030403020204" pitchFamily="34" charset="0"/>
            </a:endParaRPr>
          </a:p>
          <a:p>
            <a:r>
              <a:rPr lang="en-IN" sz="2800" b="1" u="sng" dirty="0">
                <a:latin typeface="Source Sans Pro" panose="020B0503030403020204" pitchFamily="34" charset="0"/>
                <a:ea typeface="Source Sans Pro" panose="020B0503030403020204" pitchFamily="34" charset="0"/>
              </a:rPr>
              <a:t>Software Requirements  :</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Windows / Linux OS</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Python 3.x</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TensorFlow, OpenCV</a:t>
            </a:r>
          </a:p>
          <a:p>
            <a:pPr marL="457200" indent="-457200">
              <a:buFont typeface="Courier New" panose="02070309020205020404" pitchFamily="49" charset="0"/>
              <a:buChar char="o"/>
            </a:pPr>
            <a:r>
              <a:rPr lang="en-IN" sz="2800" dirty="0" err="1">
                <a:latin typeface="Source Sans Pro" panose="020B0503030403020204" pitchFamily="34" charset="0"/>
                <a:ea typeface="Source Sans Pro" panose="020B0503030403020204" pitchFamily="34" charset="0"/>
              </a:rPr>
              <a:t>LabelImg</a:t>
            </a:r>
            <a:r>
              <a:rPr lang="en-IN" sz="2800" dirty="0">
                <a:latin typeface="Source Sans Pro" panose="020B0503030403020204" pitchFamily="34" charset="0"/>
                <a:ea typeface="Source Sans Pro" panose="020B0503030403020204" pitchFamily="34" charset="0"/>
              </a:rPr>
              <a:t> (for annotation)</a:t>
            </a:r>
          </a:p>
          <a:p>
            <a:pPr marL="457200" indent="-457200">
              <a:buFont typeface="Courier New" panose="02070309020205020404" pitchFamily="49" charset="0"/>
              <a:buChar char="o"/>
            </a:pPr>
            <a:r>
              <a:rPr lang="en-IN" sz="2800" dirty="0">
                <a:latin typeface="Source Sans Pro" panose="020B0503030403020204" pitchFamily="34" charset="0"/>
                <a:ea typeface="Source Sans Pro" panose="020B0503030403020204" pitchFamily="34" charset="0"/>
              </a:rPr>
              <a:t>VS Code / </a:t>
            </a:r>
            <a:r>
              <a:rPr lang="en-IN" sz="2800" dirty="0" err="1">
                <a:latin typeface="Source Sans Pro" panose="020B0503030403020204" pitchFamily="34" charset="0"/>
                <a:ea typeface="Source Sans Pro" panose="020B0503030403020204" pitchFamily="34" charset="0"/>
              </a:rPr>
              <a:t>Jupyter</a:t>
            </a:r>
            <a:r>
              <a:rPr lang="en-IN" sz="2800" dirty="0">
                <a:latin typeface="Source Sans Pro" panose="020B0503030403020204" pitchFamily="34" charset="0"/>
                <a:ea typeface="Source Sans Pro" panose="020B0503030403020204" pitchFamily="34" charset="0"/>
              </a:rPr>
              <a:t> Notebook</a:t>
            </a:r>
          </a:p>
          <a:p>
            <a:pPr marL="800100" lvl="1" indent="-457200">
              <a:lnSpc>
                <a:spcPts val="3100"/>
              </a:lnSpc>
              <a:buSzPct val="100000"/>
              <a:buFont typeface="Wingdings" panose="05000000000000000000" pitchFamily="2" charset="2"/>
              <a:buChar char="§"/>
            </a:pPr>
            <a:endParaRPr lang="en-US" sz="2400" dirty="0"/>
          </a:p>
          <a:p>
            <a:pPr marL="800100" lvl="1" indent="-457200">
              <a:lnSpc>
                <a:spcPts val="3100"/>
              </a:lnSpc>
              <a:buSzPct val="100000"/>
              <a:buFont typeface="Wingdings" panose="05000000000000000000" pitchFamily="2" charset="2"/>
              <a:buChar char="§"/>
            </a:pPr>
            <a:endParaRPr lang="en-US" sz="3200" b="1" dirty="0">
              <a:effectLst>
                <a:outerShdw blurRad="38100" dist="38100" dir="2700000" algn="tl">
                  <a:srgbClr val="000000">
                    <a:alpha val="43137"/>
                  </a:srgbClr>
                </a:outerShdw>
              </a:effectLst>
            </a:endParaRPr>
          </a:p>
          <a:p>
            <a:pPr marL="571500" lvl="1" indent="-571500">
              <a:lnSpc>
                <a:spcPts val="3100"/>
              </a:lnSpc>
              <a:buSzPct val="100000"/>
              <a:buFont typeface="Arial" panose="020B0604020202020204" pitchFamily="34" charset="0"/>
              <a:buChar char="•"/>
            </a:pPr>
            <a:endParaRPr lang="en-US" sz="2800" dirty="0"/>
          </a:p>
          <a:p>
            <a:pPr marL="342900" lvl="1" algn="l">
              <a:lnSpc>
                <a:spcPts val="3100"/>
              </a:lnSpc>
              <a:buSzPct val="100000"/>
            </a:pPr>
            <a:endParaRPr lang="en-US" sz="3200" b="1" dirty="0"/>
          </a:p>
        </p:txBody>
      </p:sp>
      <p:sp>
        <p:nvSpPr>
          <p:cNvPr id="5" name="Text 3"/>
          <p:cNvSpPr/>
          <p:nvPr/>
        </p:nvSpPr>
        <p:spPr>
          <a:xfrm>
            <a:off x="597595" y="3332711"/>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1900" dirty="0"/>
          </a:p>
        </p:txBody>
      </p:sp>
      <p:sp>
        <p:nvSpPr>
          <p:cNvPr id="6" name="Text 4"/>
          <p:cNvSpPr/>
          <p:nvPr/>
        </p:nvSpPr>
        <p:spPr>
          <a:xfrm>
            <a:off x="597595" y="3689401"/>
            <a:ext cx="12692896" cy="395049"/>
          </a:xfrm>
          <a:prstGeom prst="rect">
            <a:avLst/>
          </a:prstGeom>
          <a:noFill/>
          <a:ln/>
        </p:spPr>
        <p:txBody>
          <a:bodyPr wrap="none" lIns="0" tIns="0" rIns="0" bIns="0" rtlCol="0" anchor="t"/>
          <a:lstStyle/>
          <a:p>
            <a:pPr marL="342900" indent="-342900" algn="l">
              <a:lnSpc>
                <a:spcPts val="3100"/>
              </a:lnSpc>
              <a:buSzPct val="100000"/>
              <a:buChar char="•"/>
            </a:pPr>
            <a:endParaRPr lang="en-US" sz="3600" dirty="0">
              <a:effectLst>
                <a:outerShdw blurRad="38100" dist="38100" dir="2700000" algn="tl">
                  <a:srgbClr val="000000">
                    <a:alpha val="43137"/>
                  </a:srgbClr>
                </a:outerShdw>
              </a:effectLst>
            </a:endParaRPr>
          </a:p>
        </p:txBody>
      </p:sp>
      <p:sp>
        <p:nvSpPr>
          <p:cNvPr id="7" name="Text 5"/>
          <p:cNvSpPr/>
          <p:nvPr/>
        </p:nvSpPr>
        <p:spPr>
          <a:xfrm>
            <a:off x="597595" y="4440792"/>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1900" dirty="0"/>
          </a:p>
        </p:txBody>
      </p:sp>
      <p:sp>
        <p:nvSpPr>
          <p:cNvPr id="8" name="Text 6"/>
          <p:cNvSpPr/>
          <p:nvPr/>
        </p:nvSpPr>
        <p:spPr>
          <a:xfrm>
            <a:off x="597595" y="4972717"/>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1900" dirty="0"/>
          </a:p>
        </p:txBody>
      </p:sp>
      <p:sp>
        <p:nvSpPr>
          <p:cNvPr id="9" name="Text 7"/>
          <p:cNvSpPr/>
          <p:nvPr/>
        </p:nvSpPr>
        <p:spPr>
          <a:xfrm>
            <a:off x="752793" y="5596779"/>
            <a:ext cx="12692896" cy="395049"/>
          </a:xfrm>
          <a:prstGeom prst="rect">
            <a:avLst/>
          </a:prstGeom>
          <a:noFill/>
          <a:ln/>
        </p:spPr>
        <p:txBody>
          <a:bodyPr wrap="none" lIns="0" tIns="0" rIns="0" bIns="0" rtlCol="0" anchor="t"/>
          <a:lstStyle/>
          <a:p>
            <a:pPr marL="342900" indent="-342900" algn="l">
              <a:lnSpc>
                <a:spcPts val="3100"/>
              </a:lnSpc>
              <a:buSzPct val="100000"/>
              <a:buChar char="•"/>
            </a:pPr>
            <a:endParaRPr lang="en-US" sz="3600" dirty="0">
              <a:effectLst>
                <a:outerShdw blurRad="38100" dist="38100" dir="2700000" algn="tl">
                  <a:srgbClr val="000000">
                    <a:alpha val="43137"/>
                  </a:srgbClr>
                </a:outerShdw>
              </a:effectLst>
            </a:endParaRPr>
          </a:p>
        </p:txBody>
      </p:sp>
      <p:sp>
        <p:nvSpPr>
          <p:cNvPr id="10" name="Text 8"/>
          <p:cNvSpPr/>
          <p:nvPr/>
        </p:nvSpPr>
        <p:spPr>
          <a:xfrm>
            <a:off x="968693" y="6307987"/>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2800" dirty="0"/>
          </a:p>
        </p:txBody>
      </p:sp>
      <p:sp>
        <p:nvSpPr>
          <p:cNvPr id="11" name="Text 9"/>
          <p:cNvSpPr/>
          <p:nvPr/>
        </p:nvSpPr>
        <p:spPr>
          <a:xfrm>
            <a:off x="968693" y="6861333"/>
            <a:ext cx="12692896" cy="395049"/>
          </a:xfrm>
          <a:prstGeom prst="rect">
            <a:avLst/>
          </a:prstGeom>
          <a:noFill/>
          <a:ln/>
        </p:spPr>
        <p:txBody>
          <a:bodyPr wrap="none" lIns="0" tIns="0" rIns="0" bIns="0" rtlCol="0" anchor="t"/>
          <a:lstStyle/>
          <a:p>
            <a:pPr marL="685800" lvl="1" indent="-342900" algn="l">
              <a:lnSpc>
                <a:spcPts val="3100"/>
              </a:lnSpc>
              <a:buSzPct val="100000"/>
              <a:buChar char="•"/>
            </a:pPr>
            <a:endParaRPr lang="en-US" sz="2800" dirty="0"/>
          </a:p>
        </p:txBody>
      </p:sp>
      <p:sp>
        <p:nvSpPr>
          <p:cNvPr id="15" name="TextBox 14">
            <a:extLst>
              <a:ext uri="{FF2B5EF4-FFF2-40B4-BE49-F238E27FC236}">
                <a16:creationId xmlns:a16="http://schemas.microsoft.com/office/drawing/2014/main" id="{8A319DFD-BFF7-8740-D11E-6A5F36929FB7}"/>
              </a:ext>
            </a:extLst>
          </p:cNvPr>
          <p:cNvSpPr txBox="1"/>
          <p:nvPr/>
        </p:nvSpPr>
        <p:spPr>
          <a:xfrm>
            <a:off x="3010829" y="338656"/>
            <a:ext cx="11363093" cy="584775"/>
          </a:xfrm>
          <a:prstGeom prst="rect">
            <a:avLst/>
          </a:prstGeom>
          <a:noFill/>
        </p:spPr>
        <p:txBody>
          <a:bodyPr wrap="square" rtlCol="0">
            <a:spAutoFit/>
          </a:bodyPr>
          <a:lstStyle/>
          <a:p>
            <a:r>
              <a:rPr lang="en-IN" sz="3200" b="1" dirty="0"/>
              <a:t>HARDWARE AND SOFTWARE REQUIREMENTS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88453C-FDEC-C2AC-D43F-3CEDEAE52A9E}"/>
              </a:ext>
            </a:extLst>
          </p:cNvPr>
          <p:cNvSpPr/>
          <p:nvPr/>
        </p:nvSpPr>
        <p:spPr>
          <a:xfrm>
            <a:off x="0" y="675512"/>
            <a:ext cx="669431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4">
            <a:extLst>
              <a:ext uri="{FF2B5EF4-FFF2-40B4-BE49-F238E27FC236}">
                <a16:creationId xmlns:a16="http://schemas.microsoft.com/office/drawing/2014/main" id="{1234B83E-54B0-FB57-C142-4330153AC7B8}"/>
              </a:ext>
            </a:extLst>
          </p:cNvPr>
          <p:cNvSpPr txBox="1"/>
          <p:nvPr/>
        </p:nvSpPr>
        <p:spPr>
          <a:xfrm>
            <a:off x="1378881" y="771022"/>
            <a:ext cx="6557211" cy="601579"/>
          </a:xfrm>
          <a:prstGeom prst="rect">
            <a:avLst/>
          </a:prstGeom>
          <a:noFill/>
        </p:spPr>
        <p:txBody>
          <a:bodyPr wrap="square" rtlCol="0">
            <a:spAutoFit/>
          </a:bodyPr>
          <a:lstStyle/>
          <a:p>
            <a:r>
              <a:rPr lang="en-US" sz="3200" b="1" dirty="0"/>
              <a:t>ALGORITHMS USED</a:t>
            </a:r>
          </a:p>
        </p:txBody>
      </p:sp>
      <p:sp>
        <p:nvSpPr>
          <p:cNvPr id="4" name="TextBox 3">
            <a:extLst>
              <a:ext uri="{FF2B5EF4-FFF2-40B4-BE49-F238E27FC236}">
                <a16:creationId xmlns:a16="http://schemas.microsoft.com/office/drawing/2014/main" id="{1D301750-B1F9-B5D4-5B13-0D39F7DF7769}"/>
              </a:ext>
            </a:extLst>
          </p:cNvPr>
          <p:cNvSpPr txBox="1"/>
          <p:nvPr/>
        </p:nvSpPr>
        <p:spPr>
          <a:xfrm>
            <a:off x="246284" y="2129641"/>
            <a:ext cx="7810832" cy="3970318"/>
          </a:xfrm>
          <a:prstGeom prst="rect">
            <a:avLst/>
          </a:prstGeom>
          <a:noFill/>
        </p:spPr>
        <p:txBody>
          <a:bodyPr wrap="square">
            <a:spAutoFit/>
          </a:bodyPr>
          <a:lstStyle/>
          <a:p>
            <a:pPr>
              <a:buNone/>
            </a:pPr>
            <a:endParaRPr lang="en-US" sz="2800" b="1" u="sng" dirty="0">
              <a:latin typeface="Source Sans Pro" panose="020B0503030403020204" pitchFamily="34" charset="0"/>
              <a:ea typeface="Source Sans Pro" panose="020B0503030403020204" pitchFamily="34" charset="0"/>
            </a:endParaRPr>
          </a:p>
          <a:p>
            <a:pPr>
              <a:buNone/>
            </a:pPr>
            <a:r>
              <a:rPr lang="en-US" sz="2800" b="1" dirty="0">
                <a:latin typeface="Source Sans Pro" panose="020B0503030403020204" pitchFamily="34" charset="0"/>
                <a:ea typeface="Source Sans Pro" panose="020B0503030403020204" pitchFamily="34" charset="0"/>
              </a:rPr>
              <a:t>1. </a:t>
            </a:r>
            <a:r>
              <a:rPr lang="en-US" sz="2800" b="1" u="sng" dirty="0">
                <a:latin typeface="Source Sans Pro" panose="020B0503030403020204" pitchFamily="34" charset="0"/>
                <a:ea typeface="Source Sans Pro" panose="020B0503030403020204" pitchFamily="34" charset="0"/>
              </a:rPr>
              <a:t>Convolutional Neural Networks (CNN) :</a:t>
            </a:r>
          </a:p>
          <a:p>
            <a:r>
              <a:rPr lang="en-US" sz="2800" dirty="0"/>
              <a:t>A Convolutional Neural Network (CNN) is a deep learning algorithm used for image processing and computer vision tasks. It automatically extracts important features from images such as edges, shapes, and patterns. In this project, CNN is used to analyze railway track images and identify defects like cracks, breaks, and missing tracks.</a:t>
            </a:r>
          </a:p>
        </p:txBody>
      </p:sp>
      <p:pic>
        <p:nvPicPr>
          <p:cNvPr id="10242" name="Picture 2" descr="Basic structure of Convolutional Neural Network (CNN), [23] Artificial... |  Download Scientific Diagram">
            <a:extLst>
              <a:ext uri="{FF2B5EF4-FFF2-40B4-BE49-F238E27FC236}">
                <a16:creationId xmlns:a16="http://schemas.microsoft.com/office/drawing/2014/main" id="{C0B743F8-741A-BC6D-9D81-C7CB1F8F4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1953" y="1815354"/>
            <a:ext cx="5311587" cy="5042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6253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48F893-2004-CD93-5792-E266E2AD8036}"/>
              </a:ext>
            </a:extLst>
          </p:cNvPr>
          <p:cNvSpPr txBox="1"/>
          <p:nvPr/>
        </p:nvSpPr>
        <p:spPr>
          <a:xfrm>
            <a:off x="1653988" y="712694"/>
            <a:ext cx="10945906" cy="6986528"/>
          </a:xfrm>
          <a:prstGeom prst="rect">
            <a:avLst/>
          </a:prstGeom>
          <a:noFill/>
        </p:spPr>
        <p:txBody>
          <a:bodyPr wrap="square">
            <a:spAutoFit/>
          </a:bodyPr>
          <a:lstStyle/>
          <a:p>
            <a:pPr>
              <a:buNone/>
            </a:pPr>
            <a:r>
              <a:rPr lang="en-US" sz="2800" b="1" u="sng" dirty="0">
                <a:latin typeface="Source Sans Pro" panose="020B0503030403020204" pitchFamily="34" charset="0"/>
                <a:ea typeface="Source Sans Pro" panose="020B0503030403020204" pitchFamily="34" charset="0"/>
              </a:rPr>
              <a:t>CNN Layers and Their Functions :</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Input Layer:</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Takes railway track images as input and converts them into pixel values.</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Convolution Layer:</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Applies filters to extract features like edges, cracks, and track patterns.</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Activation Layer (</a:t>
            </a:r>
            <a:r>
              <a:rPr lang="en-US" sz="2800" b="1" dirty="0" err="1">
                <a:latin typeface="Source Sans Pro" panose="020B0503030403020204" pitchFamily="34" charset="0"/>
                <a:ea typeface="Source Sans Pro" panose="020B0503030403020204" pitchFamily="34" charset="0"/>
              </a:rPr>
              <a:t>ReLU</a:t>
            </a:r>
            <a:r>
              <a:rPr lang="en-US" sz="2800" b="1" dirty="0">
                <a:latin typeface="Source Sans Pro" panose="020B0503030403020204" pitchFamily="34" charset="0"/>
                <a:ea typeface="Source Sans Pro" panose="020B0503030403020204" pitchFamily="34" charset="0"/>
              </a:rPr>
              <a:t>):</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Introduces non-linearity by removing negative values and keeping important features.</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Pooling Layer:</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Reduces feature map size while preserving essential information, improving efficiency.</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Fully Connected Layer:</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Combines extracted features to classify the track condition.</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Output Layer:</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Produces final prediction indicating normal or faulty track with confidence score.</a:t>
            </a:r>
          </a:p>
        </p:txBody>
      </p:sp>
    </p:spTree>
    <p:extLst>
      <p:ext uri="{BB962C8B-B14F-4D97-AF65-F5344CB8AC3E}">
        <p14:creationId xmlns:p14="http://schemas.microsoft.com/office/powerpoint/2010/main" val="546799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AC9410-9DE5-5A28-F798-79E6B8EA39C3}"/>
              </a:ext>
            </a:extLst>
          </p:cNvPr>
          <p:cNvSpPr txBox="1"/>
          <p:nvPr/>
        </p:nvSpPr>
        <p:spPr>
          <a:xfrm>
            <a:off x="363070" y="371471"/>
            <a:ext cx="13998389" cy="3046988"/>
          </a:xfrm>
          <a:prstGeom prst="rect">
            <a:avLst/>
          </a:prstGeom>
          <a:noFill/>
        </p:spPr>
        <p:txBody>
          <a:bodyPr wrap="square">
            <a:spAutoFit/>
          </a:bodyPr>
          <a:lstStyle/>
          <a:p>
            <a:pPr>
              <a:buNone/>
            </a:pPr>
            <a:r>
              <a:rPr lang="en-US" sz="3200" b="1" u="sng" dirty="0"/>
              <a:t>2. REGION-BASED CONVOLUTIONAL NEURAL NETWORK (R-CNN)  :</a:t>
            </a:r>
          </a:p>
          <a:p>
            <a:pPr marL="457200" indent="-457200">
              <a:buFont typeface="Arial" panose="020B0604020202020204" pitchFamily="34" charset="0"/>
              <a:buChar char="•"/>
            </a:pPr>
            <a:r>
              <a:rPr lang="en-US" sz="3200" dirty="0">
                <a:latin typeface="Source Sans Pro" panose="020B0503030403020204" pitchFamily="34" charset="0"/>
                <a:ea typeface="Source Sans Pro" panose="020B0503030403020204" pitchFamily="34" charset="0"/>
              </a:rPr>
              <a:t>Region-Based Convolutional Neural Network (R-CNN) is an object detection algorithm that identifies objects in an image by first selecting important regions and then classifying them. In this project, R-CNN is used to detect railway track defects such as cracks, falls, and obstacles and to locate them accurately using bounding boxes.</a:t>
            </a:r>
          </a:p>
        </p:txBody>
      </p:sp>
      <p:sp>
        <p:nvSpPr>
          <p:cNvPr id="4" name="AutoShape 2" descr="Architecture of the R-CNN model | Download Scientific Diagram">
            <a:extLst>
              <a:ext uri="{FF2B5EF4-FFF2-40B4-BE49-F238E27FC236}">
                <a16:creationId xmlns:a16="http://schemas.microsoft.com/office/drawing/2014/main" id="{812DD27A-D1A2-A7EB-9388-832AEBF80CC7}"/>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Architecture of the R-CNN model | Download Scientific Diagram">
            <a:extLst>
              <a:ext uri="{FF2B5EF4-FFF2-40B4-BE49-F238E27FC236}">
                <a16:creationId xmlns:a16="http://schemas.microsoft.com/office/drawing/2014/main" id="{FF248ECC-07C5-F0FB-E090-294208B6B993}"/>
              </a:ext>
            </a:extLst>
          </p:cNvPr>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FAD22B94-CE2E-1000-EEE3-D5574DA22B33}"/>
              </a:ext>
            </a:extLst>
          </p:cNvPr>
          <p:cNvPicPr>
            <a:picLocks noChangeAspect="1"/>
          </p:cNvPicPr>
          <p:nvPr/>
        </p:nvPicPr>
        <p:blipFill>
          <a:blip r:embed="rId2"/>
          <a:stretch>
            <a:fillRect/>
          </a:stretch>
        </p:blipFill>
        <p:spPr>
          <a:xfrm>
            <a:off x="4126006" y="3647059"/>
            <a:ext cx="6683188" cy="4098447"/>
          </a:xfrm>
          <a:prstGeom prst="rect">
            <a:avLst/>
          </a:prstGeom>
        </p:spPr>
      </p:pic>
    </p:spTree>
    <p:extLst>
      <p:ext uri="{BB962C8B-B14F-4D97-AF65-F5344CB8AC3E}">
        <p14:creationId xmlns:p14="http://schemas.microsoft.com/office/powerpoint/2010/main" val="2189981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CC10B2-E583-3740-FD0F-3A687638B4AE}"/>
              </a:ext>
            </a:extLst>
          </p:cNvPr>
          <p:cNvSpPr txBox="1"/>
          <p:nvPr/>
        </p:nvSpPr>
        <p:spPr>
          <a:xfrm>
            <a:off x="591670" y="645459"/>
            <a:ext cx="12949517" cy="7048083"/>
          </a:xfrm>
          <a:prstGeom prst="rect">
            <a:avLst/>
          </a:prstGeom>
          <a:noFill/>
        </p:spPr>
        <p:txBody>
          <a:bodyPr wrap="square">
            <a:spAutoFit/>
          </a:bodyPr>
          <a:lstStyle/>
          <a:p>
            <a:pPr>
              <a:buNone/>
            </a:pPr>
            <a:r>
              <a:rPr lang="en-US" sz="3200" b="1" u="sng" dirty="0">
                <a:latin typeface="Source Sans Pro" panose="020B0503030403020204" pitchFamily="34" charset="0"/>
                <a:ea typeface="Source Sans Pro" panose="020B0503030403020204" pitchFamily="34" charset="0"/>
              </a:rPr>
              <a:t>Working of R-CNN :</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Input Image:</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Railway track images captured using cameras are given as input.</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Region Proposal:</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The image is divided into multiple region proposals where defects may be present.</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Feature Extraction:</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Each proposed region is passed through a CNN to extract important features.</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Classification:</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The extracted features are classified as normal track or faulty track.</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Bounding Box Localization:</a:t>
            </a:r>
            <a:br>
              <a:rPr lang="en-US" sz="2800" dirty="0">
                <a:latin typeface="Source Sans Pro" panose="020B0503030403020204" pitchFamily="34" charset="0"/>
                <a:ea typeface="Source Sans Pro" panose="020B0503030403020204" pitchFamily="34" charset="0"/>
              </a:rPr>
            </a:br>
            <a:r>
              <a:rPr lang="en-US" sz="2800" dirty="0">
                <a:latin typeface="Source Sans Pro" panose="020B0503030403020204" pitchFamily="34" charset="0"/>
                <a:ea typeface="Source Sans Pro" panose="020B0503030403020204" pitchFamily="34" charset="0"/>
              </a:rPr>
              <a:t>Bounding boxes are drawn around detected defects to show their exact location.</a:t>
            </a:r>
          </a:p>
          <a:p>
            <a:endParaRPr lang="en-US" sz="2800" dirty="0">
              <a:latin typeface="Source Sans Pro" panose="020B0503030403020204" pitchFamily="34" charset="0"/>
              <a:ea typeface="Source Sans Pro" panose="020B0503030403020204" pitchFamily="34" charset="0"/>
            </a:endParaRPr>
          </a:p>
          <a:p>
            <a:pPr>
              <a:buNone/>
            </a:pPr>
            <a:r>
              <a:rPr lang="en-US" sz="2800" b="1" u="sng" dirty="0">
                <a:latin typeface="Source Sans Pro" panose="020B0503030403020204" pitchFamily="34" charset="0"/>
                <a:ea typeface="Source Sans Pro" panose="020B0503030403020204" pitchFamily="34" charset="0"/>
              </a:rPr>
              <a:t>Advantages of R-CNN:</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Detects small and complex defects accurately.</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Provides precise defect localization using bounding boxes.</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Suitable for safety-critical applications like railway monitoring.</a:t>
            </a:r>
          </a:p>
        </p:txBody>
      </p:sp>
    </p:spTree>
    <p:extLst>
      <p:ext uri="{BB962C8B-B14F-4D97-AF65-F5344CB8AC3E}">
        <p14:creationId xmlns:p14="http://schemas.microsoft.com/office/powerpoint/2010/main" val="3359372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7ED5FF-A484-BCDF-F5B4-F5AB462DF4CC}"/>
              </a:ext>
            </a:extLst>
          </p:cNvPr>
          <p:cNvSpPr txBox="1"/>
          <p:nvPr/>
        </p:nvSpPr>
        <p:spPr>
          <a:xfrm>
            <a:off x="618565" y="375315"/>
            <a:ext cx="12801599" cy="7048083"/>
          </a:xfrm>
          <a:prstGeom prst="rect">
            <a:avLst/>
          </a:prstGeom>
          <a:noFill/>
        </p:spPr>
        <p:txBody>
          <a:bodyPr wrap="square">
            <a:spAutoFit/>
          </a:bodyPr>
          <a:lstStyle/>
          <a:p>
            <a:pPr>
              <a:buNone/>
            </a:pPr>
            <a:r>
              <a:rPr lang="en-US" sz="3200" b="1" u="sng" dirty="0">
                <a:latin typeface="Source Sans Pro" panose="020B0503030403020204" pitchFamily="34" charset="0"/>
                <a:ea typeface="Source Sans Pro" panose="020B0503030403020204" pitchFamily="34" charset="0"/>
              </a:rPr>
              <a:t>3. Region Proposals in Object Detection :</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Candidate regions in an image likely to contain objects.</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Focus computation on “interesting” areas rather than the whole image.</a:t>
            </a:r>
          </a:p>
          <a:p>
            <a:pPr>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Used in </a:t>
            </a:r>
            <a:r>
              <a:rPr lang="en-US" sz="2800" b="1" dirty="0">
                <a:latin typeface="Source Sans Pro" panose="020B0503030403020204" pitchFamily="34" charset="0"/>
                <a:ea typeface="Source Sans Pro" panose="020B0503030403020204" pitchFamily="34" charset="0"/>
              </a:rPr>
              <a:t>R-CNN, Fast R-CNN, Faster R-CNN</a:t>
            </a:r>
            <a:r>
              <a:rPr lang="en-US" sz="2800" dirty="0">
                <a:latin typeface="Source Sans Pro" panose="020B0503030403020204" pitchFamily="34" charset="0"/>
                <a:ea typeface="Source Sans Pro" panose="020B0503030403020204" pitchFamily="34" charset="0"/>
              </a:rPr>
              <a:t> pipelines.</a:t>
            </a:r>
            <a:br>
              <a:rPr lang="en-US" sz="2800" dirty="0">
                <a:latin typeface="Source Sans Pro" panose="020B0503030403020204" pitchFamily="34" charset="0"/>
                <a:ea typeface="Source Sans Pro" panose="020B0503030403020204" pitchFamily="34" charset="0"/>
              </a:rPr>
            </a:br>
            <a:endParaRPr lang="en-US" sz="2800" dirty="0">
              <a:latin typeface="Source Sans Pro" panose="020B0503030403020204" pitchFamily="34" charset="0"/>
              <a:ea typeface="Source Sans Pro" panose="020B0503030403020204" pitchFamily="34" charset="0"/>
            </a:endParaRPr>
          </a:p>
          <a:p>
            <a:pPr>
              <a:buNone/>
            </a:pPr>
            <a:r>
              <a:rPr lang="en-US" sz="2800" b="1" u="sng" dirty="0">
                <a:latin typeface="Source Sans Pro" panose="020B0503030403020204" pitchFamily="34" charset="0"/>
                <a:ea typeface="Source Sans Pro" panose="020B0503030403020204" pitchFamily="34" charset="0"/>
              </a:rPr>
              <a:t>Purpose:</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Efficiency:</a:t>
            </a:r>
            <a:r>
              <a:rPr lang="en-US" sz="2800" dirty="0">
                <a:latin typeface="Source Sans Pro" panose="020B0503030403020204" pitchFamily="34" charset="0"/>
                <a:ea typeface="Source Sans Pro" panose="020B0503030403020204" pitchFamily="34" charset="0"/>
              </a:rPr>
              <a:t> Reduces number of regions to analyze (~2000 boxes).</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Accuracy:</a:t>
            </a:r>
            <a:r>
              <a:rPr lang="en-US" sz="2800" dirty="0">
                <a:latin typeface="Source Sans Pro" panose="020B0503030403020204" pitchFamily="34" charset="0"/>
                <a:ea typeface="Source Sans Pro" panose="020B0503030403020204" pitchFamily="34" charset="0"/>
              </a:rPr>
              <a:t> Focuses on probable objects, reducing false positives.</a:t>
            </a:r>
          </a:p>
          <a:p>
            <a:pPr>
              <a:buFont typeface="Arial" panose="020B0604020202020204" pitchFamily="34" charset="0"/>
              <a:buChar char="•"/>
            </a:pPr>
            <a:r>
              <a:rPr lang="en-US" sz="2800" b="1" dirty="0">
                <a:latin typeface="Source Sans Pro" panose="020B0503030403020204" pitchFamily="34" charset="0"/>
                <a:ea typeface="Source Sans Pro" panose="020B0503030403020204" pitchFamily="34" charset="0"/>
              </a:rPr>
              <a:t>Scalability:</a:t>
            </a:r>
            <a:r>
              <a:rPr lang="en-US" sz="2800" dirty="0">
                <a:latin typeface="Source Sans Pro" panose="020B0503030403020204" pitchFamily="34" charset="0"/>
                <a:ea typeface="Source Sans Pro" panose="020B0503030403020204" pitchFamily="34" charset="0"/>
              </a:rPr>
              <a:t> Works with high-resolution images and large datasets.</a:t>
            </a:r>
          </a:p>
          <a:p>
            <a:pPr>
              <a:buNone/>
            </a:pPr>
            <a:endParaRPr lang="en-US" sz="2800" dirty="0">
              <a:latin typeface="Source Sans Pro" panose="020B0503030403020204" pitchFamily="34" charset="0"/>
              <a:ea typeface="Source Sans Pro" panose="020B0503030403020204" pitchFamily="34" charset="0"/>
            </a:endParaRPr>
          </a:p>
          <a:p>
            <a:pPr>
              <a:buNone/>
            </a:pPr>
            <a:r>
              <a:rPr lang="en-US" sz="2800" b="1" u="sng" dirty="0">
                <a:latin typeface="Source Sans Pro" panose="020B0503030403020204" pitchFamily="34" charset="0"/>
                <a:ea typeface="Source Sans Pro" panose="020B0503030403020204" pitchFamily="34" charset="0"/>
              </a:rPr>
              <a:t>How It Works:</a:t>
            </a:r>
          </a:p>
          <a:p>
            <a:pPr>
              <a:buFont typeface="+mj-lt"/>
              <a:buAutoNum type="arabicPeriod"/>
            </a:pPr>
            <a:r>
              <a:rPr lang="en-US" sz="2800" b="1" dirty="0">
                <a:latin typeface="Source Sans Pro" panose="020B0503030403020204" pitchFamily="34" charset="0"/>
                <a:ea typeface="Source Sans Pro" panose="020B0503030403020204" pitchFamily="34" charset="0"/>
              </a:rPr>
              <a:t>Input Image:</a:t>
            </a:r>
            <a:r>
              <a:rPr lang="en-US" sz="2800" dirty="0">
                <a:latin typeface="Source Sans Pro" panose="020B0503030403020204" pitchFamily="34" charset="0"/>
                <a:ea typeface="Source Sans Pro" panose="020B0503030403020204" pitchFamily="34" charset="0"/>
              </a:rPr>
              <a:t> Original image from camera or dataset.</a:t>
            </a:r>
          </a:p>
          <a:p>
            <a:pPr>
              <a:buFont typeface="+mj-lt"/>
              <a:buAutoNum type="arabicPeriod"/>
            </a:pPr>
            <a:r>
              <a:rPr lang="en-US" sz="2800" b="1" dirty="0">
                <a:latin typeface="Source Sans Pro" panose="020B0503030403020204" pitchFamily="34" charset="0"/>
                <a:ea typeface="Source Sans Pro" panose="020B0503030403020204" pitchFamily="34" charset="0"/>
              </a:rPr>
              <a:t>Region Generation:</a:t>
            </a:r>
            <a:r>
              <a:rPr lang="en-US" sz="2800" dirty="0">
                <a:latin typeface="Source Sans Pro" panose="020B0503030403020204" pitchFamily="34" charset="0"/>
                <a:ea typeface="Source Sans Pro" panose="020B0503030403020204" pitchFamily="34" charset="0"/>
              </a:rPr>
              <a:t> Multiple candidate bounding boxes created.</a:t>
            </a:r>
          </a:p>
          <a:p>
            <a:pPr>
              <a:buFont typeface="+mj-lt"/>
              <a:buAutoNum type="arabicPeriod"/>
            </a:pPr>
            <a:r>
              <a:rPr lang="en-US" sz="2800" b="1" dirty="0">
                <a:latin typeface="Source Sans Pro" panose="020B0503030403020204" pitchFamily="34" charset="0"/>
                <a:ea typeface="Source Sans Pro" panose="020B0503030403020204" pitchFamily="34" charset="0"/>
              </a:rPr>
              <a:t>Scoring:</a:t>
            </a:r>
            <a:r>
              <a:rPr lang="en-US" sz="2800" dirty="0">
                <a:latin typeface="Source Sans Pro" panose="020B0503030403020204" pitchFamily="34" charset="0"/>
                <a:ea typeface="Source Sans Pro" panose="020B0503030403020204" pitchFamily="34" charset="0"/>
              </a:rPr>
              <a:t> Each region evaluated for likelihood of containing an object</a:t>
            </a:r>
          </a:p>
          <a:p>
            <a:pPr>
              <a:buFont typeface="+mj-lt"/>
              <a:buAutoNum type="arabicPeriod"/>
            </a:pPr>
            <a:r>
              <a:rPr lang="en-US" sz="2800" b="1" dirty="0">
                <a:latin typeface="Source Sans Pro" panose="020B0503030403020204" pitchFamily="34" charset="0"/>
                <a:ea typeface="Source Sans Pro" panose="020B0503030403020204" pitchFamily="34" charset="0"/>
              </a:rPr>
              <a:t>Filtering (NMS):</a:t>
            </a:r>
            <a:r>
              <a:rPr lang="en-US" sz="2800" dirty="0">
                <a:latin typeface="Source Sans Pro" panose="020B0503030403020204" pitchFamily="34" charset="0"/>
                <a:ea typeface="Source Sans Pro" panose="020B0503030403020204" pitchFamily="34" charset="0"/>
              </a:rPr>
              <a:t> Overlapping or low-score regions removed.</a:t>
            </a:r>
          </a:p>
          <a:p>
            <a:pPr>
              <a:buFont typeface="+mj-lt"/>
              <a:buAutoNum type="arabicPeriod"/>
            </a:pPr>
            <a:r>
              <a:rPr lang="en-US" sz="2800" b="1" dirty="0">
                <a:latin typeface="Source Sans Pro" panose="020B0503030403020204" pitchFamily="34" charset="0"/>
                <a:ea typeface="Source Sans Pro" panose="020B0503030403020204" pitchFamily="34" charset="0"/>
              </a:rPr>
              <a:t>Output:</a:t>
            </a:r>
            <a:r>
              <a:rPr lang="en-US" sz="2800" dirty="0">
                <a:latin typeface="Source Sans Pro" panose="020B0503030403020204" pitchFamily="34" charset="0"/>
                <a:ea typeface="Source Sans Pro" panose="020B0503030403020204" pitchFamily="34" charset="0"/>
              </a:rPr>
              <a:t> Top regions sent to a CNN for classification and bounding box refinement.</a:t>
            </a:r>
          </a:p>
        </p:txBody>
      </p:sp>
    </p:spTree>
    <p:extLst>
      <p:ext uri="{BB962C8B-B14F-4D97-AF65-F5344CB8AC3E}">
        <p14:creationId xmlns:p14="http://schemas.microsoft.com/office/powerpoint/2010/main" val="1600382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F8E7C3-4FDB-D87C-3076-0037DD1081D4}"/>
              </a:ext>
            </a:extLst>
          </p:cNvPr>
          <p:cNvSpPr/>
          <p:nvPr/>
        </p:nvSpPr>
        <p:spPr>
          <a:xfrm>
            <a:off x="3398921" y="126439"/>
            <a:ext cx="7405437"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3" name="TextBox 2">
            <a:extLst>
              <a:ext uri="{FF2B5EF4-FFF2-40B4-BE49-F238E27FC236}">
                <a16:creationId xmlns:a16="http://schemas.microsoft.com/office/drawing/2014/main" id="{B2E8F6A6-A512-3541-F7CA-BBCBF93E48A3}"/>
              </a:ext>
            </a:extLst>
          </p:cNvPr>
          <p:cNvSpPr txBox="1"/>
          <p:nvPr/>
        </p:nvSpPr>
        <p:spPr>
          <a:xfrm>
            <a:off x="5444289" y="170129"/>
            <a:ext cx="9504948" cy="861774"/>
          </a:xfrm>
          <a:prstGeom prst="rect">
            <a:avLst/>
          </a:prstGeom>
          <a:noFill/>
        </p:spPr>
        <p:txBody>
          <a:bodyPr wrap="square" rtlCol="0">
            <a:spAutoFit/>
          </a:bodyPr>
          <a:lstStyle/>
          <a:p>
            <a:pPr marL="457200" indent="-457200"/>
            <a:r>
              <a:rPr lang="en-US" sz="3200" b="1" dirty="0"/>
              <a:t>IMPLEMENTATION </a:t>
            </a:r>
          </a:p>
          <a:p>
            <a:endParaRPr lang="en-US" dirty="0"/>
          </a:p>
        </p:txBody>
      </p:sp>
      <p:sp>
        <p:nvSpPr>
          <p:cNvPr id="4" name="Rectangle: Rounded Corners 3">
            <a:extLst>
              <a:ext uri="{FF2B5EF4-FFF2-40B4-BE49-F238E27FC236}">
                <a16:creationId xmlns:a16="http://schemas.microsoft.com/office/drawing/2014/main" id="{BAB30CDE-C2A5-01FC-E635-D5B5CDCDCEE0}"/>
              </a:ext>
            </a:extLst>
          </p:cNvPr>
          <p:cNvSpPr/>
          <p:nvPr/>
        </p:nvSpPr>
        <p:spPr>
          <a:xfrm>
            <a:off x="2105526" y="1130966"/>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8C86AED-E96D-9D9F-3068-E463353048C7}"/>
              </a:ext>
            </a:extLst>
          </p:cNvPr>
          <p:cNvSpPr txBox="1"/>
          <p:nvPr/>
        </p:nvSpPr>
        <p:spPr>
          <a:xfrm>
            <a:off x="2448427" y="1348017"/>
            <a:ext cx="2562727" cy="1200329"/>
          </a:xfrm>
          <a:prstGeom prst="rect">
            <a:avLst/>
          </a:prstGeom>
          <a:noFill/>
        </p:spPr>
        <p:txBody>
          <a:bodyPr wrap="square" rtlCol="0">
            <a:spAutoFit/>
          </a:bodyPr>
          <a:lstStyle/>
          <a:p>
            <a:r>
              <a:rPr lang="en-US" sz="2400" dirty="0"/>
              <a:t>Detect railway track condition using camera input</a:t>
            </a:r>
            <a:endParaRPr lang="en-US" dirty="0"/>
          </a:p>
        </p:txBody>
      </p:sp>
      <p:sp>
        <p:nvSpPr>
          <p:cNvPr id="6" name="Arrow: Down 5">
            <a:extLst>
              <a:ext uri="{FF2B5EF4-FFF2-40B4-BE49-F238E27FC236}">
                <a16:creationId xmlns:a16="http://schemas.microsoft.com/office/drawing/2014/main" id="{D8B0AC3F-643D-B33E-CD15-3388C19A54B4}"/>
              </a:ext>
            </a:extLst>
          </p:cNvPr>
          <p:cNvSpPr/>
          <p:nvPr/>
        </p:nvSpPr>
        <p:spPr>
          <a:xfrm>
            <a:off x="3398921" y="2845928"/>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EC91E11-94EA-E800-BFFD-84599BC15E73}"/>
              </a:ext>
            </a:extLst>
          </p:cNvPr>
          <p:cNvSpPr/>
          <p:nvPr/>
        </p:nvSpPr>
        <p:spPr>
          <a:xfrm>
            <a:off x="2159669" y="3628635"/>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6E493CB6-9C71-6A2A-D3D3-C966A7C28D30}"/>
              </a:ext>
            </a:extLst>
          </p:cNvPr>
          <p:cNvSpPr txBox="1"/>
          <p:nvPr/>
        </p:nvSpPr>
        <p:spPr>
          <a:xfrm>
            <a:off x="2474222" y="3831800"/>
            <a:ext cx="2688727" cy="1200329"/>
          </a:xfrm>
          <a:prstGeom prst="rect">
            <a:avLst/>
          </a:prstGeom>
          <a:noFill/>
        </p:spPr>
        <p:txBody>
          <a:bodyPr wrap="square" rtlCol="0">
            <a:spAutoFit/>
          </a:bodyPr>
          <a:lstStyle/>
          <a:p>
            <a:r>
              <a:rPr lang="en-US" sz="2400" dirty="0"/>
              <a:t>The model checks for cracks, track falls, or obstacles.</a:t>
            </a:r>
            <a:endParaRPr lang="en-US" sz="2400" dirty="0">
              <a:solidFill>
                <a:schemeClr val="bg1"/>
              </a:solidFill>
            </a:endParaRPr>
          </a:p>
        </p:txBody>
      </p:sp>
      <p:sp>
        <p:nvSpPr>
          <p:cNvPr id="9" name="Arrow: Down 8">
            <a:extLst>
              <a:ext uri="{FF2B5EF4-FFF2-40B4-BE49-F238E27FC236}">
                <a16:creationId xmlns:a16="http://schemas.microsoft.com/office/drawing/2014/main" id="{DDD5620C-E9EF-20C8-05BF-BC37D8BE4292}"/>
              </a:ext>
            </a:extLst>
          </p:cNvPr>
          <p:cNvSpPr/>
          <p:nvPr/>
        </p:nvSpPr>
        <p:spPr>
          <a:xfrm>
            <a:off x="3398921" y="5447472"/>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E6EB05C-D3D6-19CD-EF8A-292F3C1D64AF}"/>
              </a:ext>
            </a:extLst>
          </p:cNvPr>
          <p:cNvSpPr/>
          <p:nvPr/>
        </p:nvSpPr>
        <p:spPr>
          <a:xfrm>
            <a:off x="2105526" y="6280486"/>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DCE3F9BB-B632-34CD-5FD7-256834AF2EC5}"/>
              </a:ext>
            </a:extLst>
          </p:cNvPr>
          <p:cNvSpPr txBox="1"/>
          <p:nvPr/>
        </p:nvSpPr>
        <p:spPr>
          <a:xfrm>
            <a:off x="2274630" y="6363998"/>
            <a:ext cx="2851484" cy="1569660"/>
          </a:xfrm>
          <a:prstGeom prst="rect">
            <a:avLst/>
          </a:prstGeom>
          <a:noFill/>
        </p:spPr>
        <p:txBody>
          <a:bodyPr wrap="square" rtlCol="0">
            <a:spAutoFit/>
          </a:bodyPr>
          <a:lstStyle/>
          <a:p>
            <a:r>
              <a:rPr lang="en-US" sz="2400" dirty="0"/>
              <a:t>Each defect is highlighted, making it easy to identify the exact location.</a:t>
            </a:r>
            <a:endParaRPr lang="en-US" sz="2400" dirty="0">
              <a:solidFill>
                <a:schemeClr val="bg1"/>
              </a:solidFill>
            </a:endParaRPr>
          </a:p>
        </p:txBody>
      </p:sp>
      <p:sp>
        <p:nvSpPr>
          <p:cNvPr id="12" name="Arrow: Right 11">
            <a:extLst>
              <a:ext uri="{FF2B5EF4-FFF2-40B4-BE49-F238E27FC236}">
                <a16:creationId xmlns:a16="http://schemas.microsoft.com/office/drawing/2014/main" id="{ED6B54C9-BCA7-61ED-05A7-2D54B666231D}"/>
              </a:ext>
            </a:extLst>
          </p:cNvPr>
          <p:cNvSpPr/>
          <p:nvPr/>
        </p:nvSpPr>
        <p:spPr>
          <a:xfrm>
            <a:off x="6737684" y="7001141"/>
            <a:ext cx="1509962" cy="6501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963DAB13-771F-F85F-A5D1-4B9A87D82981}"/>
              </a:ext>
            </a:extLst>
          </p:cNvPr>
          <p:cNvSpPr/>
          <p:nvPr/>
        </p:nvSpPr>
        <p:spPr>
          <a:xfrm>
            <a:off x="9657347" y="1083867"/>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C4E6F25-453A-22B3-445D-540EB7717652}"/>
              </a:ext>
            </a:extLst>
          </p:cNvPr>
          <p:cNvSpPr txBox="1"/>
          <p:nvPr/>
        </p:nvSpPr>
        <p:spPr>
          <a:xfrm>
            <a:off x="9998242" y="1264208"/>
            <a:ext cx="2622884" cy="1200329"/>
          </a:xfrm>
          <a:prstGeom prst="rect">
            <a:avLst/>
          </a:prstGeom>
          <a:noFill/>
        </p:spPr>
        <p:txBody>
          <a:bodyPr wrap="square" rtlCol="0">
            <a:spAutoFit/>
          </a:bodyPr>
          <a:lstStyle/>
          <a:p>
            <a:r>
              <a:rPr lang="en-US" sz="2400" dirty="0"/>
              <a:t>the siren rings immediately to alert nearby staff.</a:t>
            </a:r>
            <a:endParaRPr lang="en-US" sz="2400" dirty="0">
              <a:solidFill>
                <a:schemeClr val="bg1"/>
              </a:solidFill>
            </a:endParaRPr>
          </a:p>
        </p:txBody>
      </p:sp>
      <p:sp>
        <p:nvSpPr>
          <p:cNvPr id="15" name="Arrow: Down 14">
            <a:extLst>
              <a:ext uri="{FF2B5EF4-FFF2-40B4-BE49-F238E27FC236}">
                <a16:creationId xmlns:a16="http://schemas.microsoft.com/office/drawing/2014/main" id="{D0DAA124-ED8B-74EE-2E5B-84CD9C2A8F8B}"/>
              </a:ext>
            </a:extLst>
          </p:cNvPr>
          <p:cNvSpPr/>
          <p:nvPr/>
        </p:nvSpPr>
        <p:spPr>
          <a:xfrm>
            <a:off x="11079079" y="2824090"/>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94E51AF9-C464-0539-CB78-1A3AF510E52C}"/>
              </a:ext>
            </a:extLst>
          </p:cNvPr>
          <p:cNvSpPr/>
          <p:nvPr/>
        </p:nvSpPr>
        <p:spPr>
          <a:xfrm>
            <a:off x="9739563" y="3613818"/>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2DFF71D3-4429-BFBB-D0CE-DF572D8A20F5}"/>
              </a:ext>
            </a:extLst>
          </p:cNvPr>
          <p:cNvSpPr txBox="1"/>
          <p:nvPr/>
        </p:nvSpPr>
        <p:spPr>
          <a:xfrm>
            <a:off x="9998242" y="3792936"/>
            <a:ext cx="3031958" cy="1200329"/>
          </a:xfrm>
          <a:prstGeom prst="rect">
            <a:avLst/>
          </a:prstGeom>
          <a:noFill/>
        </p:spPr>
        <p:txBody>
          <a:bodyPr wrap="square" rtlCol="0">
            <a:spAutoFit/>
          </a:bodyPr>
          <a:lstStyle/>
          <a:p>
            <a:r>
              <a:rPr lang="en-US" sz="2400" dirty="0"/>
              <a:t>Notifies staff so they can take quick action to prevent accidents.</a:t>
            </a:r>
            <a:endParaRPr lang="en-US" sz="2400" dirty="0">
              <a:solidFill>
                <a:schemeClr val="bg1"/>
              </a:solidFill>
            </a:endParaRPr>
          </a:p>
        </p:txBody>
      </p:sp>
      <p:sp>
        <p:nvSpPr>
          <p:cNvPr id="18" name="Arrow: Down 17">
            <a:extLst>
              <a:ext uri="{FF2B5EF4-FFF2-40B4-BE49-F238E27FC236}">
                <a16:creationId xmlns:a16="http://schemas.microsoft.com/office/drawing/2014/main" id="{6BACD56A-1ECD-3A49-9344-3C9C3FE0037B}"/>
              </a:ext>
            </a:extLst>
          </p:cNvPr>
          <p:cNvSpPr/>
          <p:nvPr/>
        </p:nvSpPr>
        <p:spPr>
          <a:xfrm>
            <a:off x="11079079" y="5354041"/>
            <a:ext cx="553452" cy="685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500BC9B-AC96-19EB-5216-A7E9C9E1B751}"/>
              </a:ext>
            </a:extLst>
          </p:cNvPr>
          <p:cNvSpPr/>
          <p:nvPr/>
        </p:nvSpPr>
        <p:spPr>
          <a:xfrm>
            <a:off x="9739563" y="6280485"/>
            <a:ext cx="3140242" cy="16362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73B52407-5E16-ED3E-EC04-1EBCEAA73627}"/>
              </a:ext>
            </a:extLst>
          </p:cNvPr>
          <p:cNvSpPr txBox="1"/>
          <p:nvPr/>
        </p:nvSpPr>
        <p:spPr>
          <a:xfrm>
            <a:off x="9998242" y="6334192"/>
            <a:ext cx="2899611" cy="1569660"/>
          </a:xfrm>
          <a:prstGeom prst="rect">
            <a:avLst/>
          </a:prstGeom>
          <a:noFill/>
        </p:spPr>
        <p:txBody>
          <a:bodyPr wrap="square" rtlCol="0">
            <a:spAutoFit/>
          </a:bodyPr>
          <a:lstStyle/>
          <a:p>
            <a:r>
              <a:rPr lang="en-US" sz="2400" dirty="0"/>
              <a:t>Shows crack/fall/obstacle along with its location for easy review.</a:t>
            </a:r>
            <a:endParaRPr lang="en-US" sz="2400" dirty="0">
              <a:solidFill>
                <a:schemeClr val="bg1"/>
              </a:solidFill>
            </a:endParaRPr>
          </a:p>
        </p:txBody>
      </p:sp>
    </p:spTree>
    <p:extLst>
      <p:ext uri="{BB962C8B-B14F-4D97-AF65-F5344CB8AC3E}">
        <p14:creationId xmlns:p14="http://schemas.microsoft.com/office/powerpoint/2010/main" val="601704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17575-F2C0-E618-99E0-E04FEC974D5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976368D-F0EC-A303-15DB-02905190B532}"/>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1BCF6BAD-42AE-684A-A7B4-D27513E05202}"/>
              </a:ext>
            </a:extLst>
          </p:cNvPr>
          <p:cNvSpPr txBox="1"/>
          <p:nvPr/>
        </p:nvSpPr>
        <p:spPr>
          <a:xfrm>
            <a:off x="6185830" y="383124"/>
            <a:ext cx="6695573" cy="584775"/>
          </a:xfrm>
          <a:prstGeom prst="rect">
            <a:avLst/>
          </a:prstGeom>
          <a:noFill/>
        </p:spPr>
        <p:txBody>
          <a:bodyPr wrap="square" rtlCol="0">
            <a:spAutoFit/>
          </a:bodyPr>
          <a:lstStyle/>
          <a:p>
            <a:r>
              <a:rPr lang="en-US" sz="3200" b="1" dirty="0"/>
              <a:t> TESTING</a:t>
            </a:r>
          </a:p>
        </p:txBody>
      </p:sp>
      <p:graphicFrame>
        <p:nvGraphicFramePr>
          <p:cNvPr id="9" name="Table 8">
            <a:extLst>
              <a:ext uri="{FF2B5EF4-FFF2-40B4-BE49-F238E27FC236}">
                <a16:creationId xmlns:a16="http://schemas.microsoft.com/office/drawing/2014/main" id="{2DE6B0B8-2B2F-DF5F-86BA-11DFFB5F0511}"/>
              </a:ext>
            </a:extLst>
          </p:cNvPr>
          <p:cNvGraphicFramePr>
            <a:graphicFrameLocks noGrp="1"/>
          </p:cNvGraphicFramePr>
          <p:nvPr/>
        </p:nvGraphicFramePr>
        <p:xfrm>
          <a:off x="1006475" y="4618514"/>
          <a:ext cx="12617450" cy="420624"/>
        </p:xfrm>
        <a:graphic>
          <a:graphicData uri="http://schemas.openxmlformats.org/drawingml/2006/table">
            <a:tbl>
              <a:tblPr/>
              <a:tblGrid>
                <a:gridCol w="12617450">
                  <a:extLst>
                    <a:ext uri="{9D8B030D-6E8A-4147-A177-3AD203B41FA5}">
                      <a16:colId xmlns:a16="http://schemas.microsoft.com/office/drawing/2014/main" val="3707674695"/>
                    </a:ext>
                  </a:extLst>
                </a:gridCol>
              </a:tblGrid>
              <a:tr h="0">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2488457810"/>
                  </a:ext>
                </a:extLst>
              </a:tr>
            </a:tbl>
          </a:graphicData>
        </a:graphic>
      </p:graphicFrame>
      <p:graphicFrame>
        <p:nvGraphicFramePr>
          <p:cNvPr id="10" name="Table 9">
            <a:extLst>
              <a:ext uri="{FF2B5EF4-FFF2-40B4-BE49-F238E27FC236}">
                <a16:creationId xmlns:a16="http://schemas.microsoft.com/office/drawing/2014/main" id="{23874BCF-AA30-E3B0-206E-D5C6DDDB496C}"/>
              </a:ext>
            </a:extLst>
          </p:cNvPr>
          <p:cNvGraphicFramePr>
            <a:graphicFrameLocks noGrp="1"/>
          </p:cNvGraphicFramePr>
          <p:nvPr>
            <p:extLst>
              <p:ext uri="{D42A27DB-BD31-4B8C-83A1-F6EECF244321}">
                <p14:modId xmlns:p14="http://schemas.microsoft.com/office/powerpoint/2010/main" val="1186718767"/>
              </p:ext>
            </p:extLst>
          </p:nvPr>
        </p:nvGraphicFramePr>
        <p:xfrm>
          <a:off x="1006475" y="4618514"/>
          <a:ext cx="12617450" cy="420624"/>
        </p:xfrm>
        <a:graphic>
          <a:graphicData uri="http://schemas.openxmlformats.org/drawingml/2006/table">
            <a:tbl>
              <a:tblPr/>
              <a:tblGrid>
                <a:gridCol w="12617450">
                  <a:extLst>
                    <a:ext uri="{9D8B030D-6E8A-4147-A177-3AD203B41FA5}">
                      <a16:colId xmlns:a16="http://schemas.microsoft.com/office/drawing/2014/main" val="1798062534"/>
                    </a:ext>
                  </a:extLst>
                </a:gridCol>
              </a:tblGrid>
              <a:tr h="0">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1649962098"/>
                  </a:ext>
                </a:extLst>
              </a:tr>
            </a:tbl>
          </a:graphicData>
        </a:graphic>
      </p:graphicFrame>
      <p:sp>
        <p:nvSpPr>
          <p:cNvPr id="4" name="TextBox 3">
            <a:extLst>
              <a:ext uri="{FF2B5EF4-FFF2-40B4-BE49-F238E27FC236}">
                <a16:creationId xmlns:a16="http://schemas.microsoft.com/office/drawing/2014/main" id="{B9118013-5356-FF1D-DD8C-6771F17F4825}"/>
              </a:ext>
            </a:extLst>
          </p:cNvPr>
          <p:cNvSpPr txBox="1"/>
          <p:nvPr/>
        </p:nvSpPr>
        <p:spPr>
          <a:xfrm>
            <a:off x="727911" y="1596881"/>
            <a:ext cx="8237499" cy="6370975"/>
          </a:xfrm>
          <a:prstGeom prst="rect">
            <a:avLst/>
          </a:prstGeom>
          <a:noFill/>
        </p:spPr>
        <p:txBody>
          <a:bodyPr wrap="square" rtlCol="0">
            <a:spAutoFit/>
          </a:bodyPr>
          <a:lstStyle/>
          <a:p>
            <a:r>
              <a:rPr lang="en-US" sz="3200" b="1" u="sng" dirty="0">
                <a:latin typeface="Source Sans Pro" panose="020B0503030403020204" pitchFamily="34" charset="0"/>
                <a:ea typeface="Source Sans Pro" panose="020B0503030403020204" pitchFamily="34" charset="0"/>
              </a:rPr>
              <a:t>Testing  :</a:t>
            </a:r>
          </a:p>
          <a:p>
            <a:pPr marL="457200" indent="-457200">
              <a:buFont typeface="Courier New" panose="02070309020205020404" pitchFamily="49" charset="0"/>
              <a:buChar char="o"/>
            </a:pPr>
            <a:r>
              <a:rPr lang="en-US" sz="2800" b="1" dirty="0">
                <a:latin typeface="Source Sans Pro" panose="020B0503030403020204" pitchFamily="34" charset="0"/>
                <a:ea typeface="Source Sans Pro" panose="020B0503030403020204" pitchFamily="34" charset="0"/>
              </a:rPr>
              <a:t>Tested on Images &amp; Videos:</a:t>
            </a:r>
            <a:r>
              <a:rPr lang="en-US" sz="2800" dirty="0">
                <a:latin typeface="Source Sans Pro" panose="020B0503030403020204" pitchFamily="34" charset="0"/>
                <a:ea typeface="Source Sans Pro" panose="020B0503030403020204" pitchFamily="34" charset="0"/>
              </a:rPr>
              <a:t> Checked the system on various railway track images and video frames.</a:t>
            </a:r>
          </a:p>
          <a:p>
            <a:pPr marL="457200" indent="-457200">
              <a:buFont typeface="Courier New" panose="02070309020205020404" pitchFamily="49" charset="0"/>
              <a:buChar char="o"/>
            </a:pPr>
            <a:r>
              <a:rPr lang="en-US" sz="2800" b="1" dirty="0">
                <a:latin typeface="Source Sans Pro" panose="020B0503030403020204" pitchFamily="34" charset="0"/>
                <a:ea typeface="Source Sans Pro" panose="020B0503030403020204" pitchFamily="34" charset="0"/>
              </a:rPr>
              <a:t>Detection Accuracy:</a:t>
            </a:r>
            <a:r>
              <a:rPr lang="en-US" sz="2800" dirty="0">
                <a:latin typeface="Source Sans Pro" panose="020B0503030403020204" pitchFamily="34" charset="0"/>
                <a:ea typeface="Source Sans Pro" panose="020B0503030403020204" pitchFamily="34" charset="0"/>
              </a:rPr>
              <a:t> Evaluated how well Faster R-CNN identified cracks, falls, and obstacles.</a:t>
            </a:r>
          </a:p>
          <a:p>
            <a:pPr marL="457200" indent="-457200">
              <a:buFont typeface="Courier New" panose="02070309020205020404" pitchFamily="49" charset="0"/>
              <a:buChar char="o"/>
            </a:pPr>
            <a:r>
              <a:rPr lang="en-US" sz="2800" b="1" dirty="0">
                <a:latin typeface="Source Sans Pro" panose="020B0503030403020204" pitchFamily="34" charset="0"/>
                <a:ea typeface="Source Sans Pro" panose="020B0503030403020204" pitchFamily="34" charset="0"/>
              </a:rPr>
              <a:t>Bounding Box Check:</a:t>
            </a:r>
            <a:r>
              <a:rPr lang="en-US" sz="2800" dirty="0">
                <a:latin typeface="Source Sans Pro" panose="020B0503030403020204" pitchFamily="34" charset="0"/>
                <a:ea typeface="Source Sans Pro" panose="020B0503030403020204" pitchFamily="34" charset="0"/>
              </a:rPr>
              <a:t> Verified if detected boxes matched the actual defect areas.</a:t>
            </a:r>
          </a:p>
          <a:p>
            <a:pPr marL="457200" indent="-457200">
              <a:buFont typeface="Courier New" panose="02070309020205020404" pitchFamily="49" charset="0"/>
              <a:buChar char="o"/>
            </a:pPr>
            <a:r>
              <a:rPr lang="en-US" sz="2800" b="1" dirty="0">
                <a:latin typeface="Source Sans Pro" panose="020B0503030403020204" pitchFamily="34" charset="0"/>
                <a:ea typeface="Source Sans Pro" panose="020B0503030403020204" pitchFamily="34" charset="0"/>
              </a:rPr>
              <a:t>Performance Metrics:</a:t>
            </a:r>
            <a:r>
              <a:rPr lang="en-US" sz="2800" dirty="0">
                <a:latin typeface="Source Sans Pro" panose="020B0503030403020204" pitchFamily="34" charset="0"/>
                <a:ea typeface="Source Sans Pro" panose="020B0503030403020204" pitchFamily="34" charset="0"/>
              </a:rPr>
              <a:t> Measured accuracy, precision, recall, and confidence scores.</a:t>
            </a:r>
          </a:p>
          <a:p>
            <a:pPr marL="457200" indent="-457200">
              <a:buFont typeface="Courier New" panose="02070309020205020404" pitchFamily="49" charset="0"/>
              <a:buChar char="o"/>
            </a:pPr>
            <a:r>
              <a:rPr lang="en-US" sz="2800" b="1" dirty="0">
                <a:latin typeface="Source Sans Pro" panose="020B0503030403020204" pitchFamily="34" charset="0"/>
                <a:ea typeface="Source Sans Pro" panose="020B0503030403020204" pitchFamily="34" charset="0"/>
              </a:rPr>
              <a:t>Siren Alarm Test:</a:t>
            </a:r>
            <a:r>
              <a:rPr lang="en-US" sz="2800" dirty="0">
                <a:latin typeface="Source Sans Pro" panose="020B0503030403020204" pitchFamily="34" charset="0"/>
                <a:ea typeface="Source Sans Pro" panose="020B0503030403020204" pitchFamily="34" charset="0"/>
              </a:rPr>
              <a:t> Ensured alarm activates only when a real defect is detected.</a:t>
            </a:r>
          </a:p>
          <a:p>
            <a:endParaRPr lang="en-US" sz="2800" dirty="0"/>
          </a:p>
          <a:p>
            <a:endParaRPr lang="en-US" dirty="0"/>
          </a:p>
          <a:p>
            <a:endParaRPr lang="en-US" dirty="0"/>
          </a:p>
          <a:p>
            <a:endParaRPr lang="en-US" dirty="0"/>
          </a:p>
          <a:p>
            <a:endParaRPr lang="en-US" dirty="0"/>
          </a:p>
        </p:txBody>
      </p:sp>
      <p:pic>
        <p:nvPicPr>
          <p:cNvPr id="6" name="Picture 5" descr="A screenshot of a computer screen&#10;&#10;AI-generated content may be incorrect.">
            <a:extLst>
              <a:ext uri="{FF2B5EF4-FFF2-40B4-BE49-F238E27FC236}">
                <a16:creationId xmlns:a16="http://schemas.microsoft.com/office/drawing/2014/main" id="{A516CD7A-3EBE-60B8-CE5D-B3B28CBBB926}"/>
              </a:ext>
            </a:extLst>
          </p:cNvPr>
          <p:cNvPicPr>
            <a:picLocks noChangeAspect="1"/>
          </p:cNvPicPr>
          <p:nvPr/>
        </p:nvPicPr>
        <p:blipFill>
          <a:blip r:embed="rId2"/>
          <a:stretch>
            <a:fillRect/>
          </a:stretch>
        </p:blipFill>
        <p:spPr>
          <a:xfrm>
            <a:off x="8865803" y="1231897"/>
            <a:ext cx="5501549" cy="6614579"/>
          </a:xfrm>
          <a:prstGeom prst="rect">
            <a:avLst/>
          </a:prstGeom>
        </p:spPr>
      </p:pic>
    </p:spTree>
    <p:extLst>
      <p:ext uri="{BB962C8B-B14F-4D97-AF65-F5344CB8AC3E}">
        <p14:creationId xmlns:p14="http://schemas.microsoft.com/office/powerpoint/2010/main" val="41210892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D19A5-8C10-A5D4-3D48-95A5C482209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DD22A3C-22D6-57FD-210B-58D35EA9056C}"/>
              </a:ext>
            </a:extLst>
          </p:cNvPr>
          <p:cNvSpPr/>
          <p:nvPr/>
        </p:nvSpPr>
        <p:spPr>
          <a:xfrm>
            <a:off x="2370221" y="294536"/>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C592DDDA-5F01-3B98-621D-257AB6C838AD}"/>
              </a:ext>
            </a:extLst>
          </p:cNvPr>
          <p:cNvSpPr txBox="1"/>
          <p:nvPr/>
        </p:nvSpPr>
        <p:spPr>
          <a:xfrm>
            <a:off x="6015790" y="336090"/>
            <a:ext cx="8001000" cy="584775"/>
          </a:xfrm>
          <a:prstGeom prst="rect">
            <a:avLst/>
          </a:prstGeom>
          <a:noFill/>
        </p:spPr>
        <p:txBody>
          <a:bodyPr wrap="square" rtlCol="0">
            <a:spAutoFit/>
          </a:bodyPr>
          <a:lstStyle/>
          <a:p>
            <a:r>
              <a:rPr lang="en-US" sz="3200" b="1" dirty="0"/>
              <a:t>RESULTS</a:t>
            </a:r>
          </a:p>
        </p:txBody>
      </p:sp>
      <p:sp>
        <p:nvSpPr>
          <p:cNvPr id="6" name="TextBox 5">
            <a:extLst>
              <a:ext uri="{FF2B5EF4-FFF2-40B4-BE49-F238E27FC236}">
                <a16:creationId xmlns:a16="http://schemas.microsoft.com/office/drawing/2014/main" id="{3CD5D961-54F1-2A62-9CC8-97CB721300EE}"/>
              </a:ext>
            </a:extLst>
          </p:cNvPr>
          <p:cNvSpPr txBox="1"/>
          <p:nvPr/>
        </p:nvSpPr>
        <p:spPr>
          <a:xfrm>
            <a:off x="1026199" y="962419"/>
            <a:ext cx="7595288" cy="7971413"/>
          </a:xfrm>
          <a:prstGeom prst="rect">
            <a:avLst/>
          </a:prstGeom>
          <a:noFill/>
        </p:spPr>
        <p:txBody>
          <a:bodyPr wrap="square" rtlCol="0">
            <a:spAutoFit/>
          </a:bodyPr>
          <a:lstStyle/>
          <a:p>
            <a:r>
              <a:rPr lang="en-US" sz="3200" b="1" u="sng" dirty="0">
                <a:latin typeface="Source Sans Pro" panose="020B0503030403020204" pitchFamily="34" charset="0"/>
                <a:ea typeface="Source Sans Pro" panose="020B0503030403020204" pitchFamily="34" charset="0"/>
              </a:rPr>
              <a:t>Results  :</a:t>
            </a:r>
          </a:p>
          <a:p>
            <a:pPr marL="457200" indent="-457200">
              <a:buFont typeface="Courier New" panose="02070309020205020404" pitchFamily="49" charset="0"/>
              <a:buChar char="o"/>
            </a:pPr>
            <a:r>
              <a:rPr lang="en-US" sz="3200" b="1" dirty="0">
                <a:latin typeface="Source Sans Pro" panose="020B0503030403020204" pitchFamily="34" charset="0"/>
                <a:ea typeface="Source Sans Pro" panose="020B0503030403020204" pitchFamily="34" charset="0"/>
              </a:rPr>
              <a:t>Correct Defect Detection:</a:t>
            </a:r>
            <a:r>
              <a:rPr lang="en-US" sz="3200" dirty="0">
                <a:latin typeface="Source Sans Pro" panose="020B0503030403020204" pitchFamily="34" charset="0"/>
                <a:ea typeface="Source Sans Pro" panose="020B0503030403020204" pitchFamily="34" charset="0"/>
              </a:rPr>
              <a:t> System successfully detected cracks, falls, and obstacles.</a:t>
            </a:r>
          </a:p>
          <a:p>
            <a:pPr marL="457200" indent="-457200">
              <a:buFont typeface="Courier New" panose="02070309020205020404" pitchFamily="49" charset="0"/>
              <a:buChar char="o"/>
            </a:pPr>
            <a:r>
              <a:rPr lang="en-US" sz="3200" b="1" dirty="0">
                <a:latin typeface="Source Sans Pro" panose="020B0503030403020204" pitchFamily="34" charset="0"/>
                <a:ea typeface="Source Sans Pro" panose="020B0503030403020204" pitchFamily="34" charset="0"/>
              </a:rPr>
              <a:t>Accurate Bounding Boxes:</a:t>
            </a:r>
            <a:r>
              <a:rPr lang="en-US" sz="3200" dirty="0">
                <a:latin typeface="Source Sans Pro" panose="020B0503030403020204" pitchFamily="34" charset="0"/>
                <a:ea typeface="Source Sans Pro" panose="020B0503030403020204" pitchFamily="34" charset="0"/>
              </a:rPr>
              <a:t> Defects were clearly highlighted with precise boxes.</a:t>
            </a:r>
          </a:p>
          <a:p>
            <a:pPr marL="457200" indent="-457200">
              <a:buFont typeface="Courier New" panose="02070309020205020404" pitchFamily="49" charset="0"/>
              <a:buChar char="o"/>
            </a:pPr>
            <a:r>
              <a:rPr lang="en-US" sz="3200" b="1" dirty="0">
                <a:latin typeface="Source Sans Pro" panose="020B0503030403020204" pitchFamily="34" charset="0"/>
                <a:ea typeface="Source Sans Pro" panose="020B0503030403020204" pitchFamily="34" charset="0"/>
              </a:rPr>
              <a:t>Strong Confidence Scores:</a:t>
            </a:r>
            <a:r>
              <a:rPr lang="en-US" sz="3200" dirty="0">
                <a:latin typeface="Source Sans Pro" panose="020B0503030403020204" pitchFamily="34" charset="0"/>
                <a:ea typeface="Source Sans Pro" panose="020B0503030403020204" pitchFamily="34" charset="0"/>
              </a:rPr>
              <a:t> Major defects showed high detection confidence.</a:t>
            </a:r>
          </a:p>
          <a:p>
            <a:pPr marL="457200" indent="-457200">
              <a:buFont typeface="Courier New" panose="02070309020205020404" pitchFamily="49" charset="0"/>
              <a:buChar char="o"/>
            </a:pPr>
            <a:r>
              <a:rPr lang="en-US" sz="3200" b="1" dirty="0">
                <a:latin typeface="Source Sans Pro" panose="020B0503030403020204" pitchFamily="34" charset="0"/>
                <a:ea typeface="Source Sans Pro" panose="020B0503030403020204" pitchFamily="34" charset="0"/>
              </a:rPr>
              <a:t>Instant Alarm Response:</a:t>
            </a:r>
            <a:r>
              <a:rPr lang="en-US" sz="3200" dirty="0">
                <a:latin typeface="Source Sans Pro" panose="020B0503030403020204" pitchFamily="34" charset="0"/>
                <a:ea typeface="Source Sans Pro" panose="020B0503030403020204" pitchFamily="34" charset="0"/>
              </a:rPr>
              <a:t> Siren triggered immediately after detection.</a:t>
            </a:r>
          </a:p>
          <a:p>
            <a:pPr marL="457200" indent="-457200">
              <a:buFont typeface="Courier New" panose="02070309020205020404" pitchFamily="49" charset="0"/>
              <a:buChar char="o"/>
            </a:pPr>
            <a:r>
              <a:rPr lang="en-US" sz="3200" b="1" dirty="0">
                <a:latin typeface="Source Sans Pro" panose="020B0503030403020204" pitchFamily="34" charset="0"/>
                <a:ea typeface="Source Sans Pro" panose="020B0503030403020204" pitchFamily="34" charset="0"/>
              </a:rPr>
              <a:t>Better Safety Monitoring:</a:t>
            </a:r>
            <a:r>
              <a:rPr lang="en-US" sz="3200" dirty="0">
                <a:latin typeface="Source Sans Pro" panose="020B0503030403020204" pitchFamily="34" charset="0"/>
                <a:ea typeface="Source Sans Pro" panose="020B0503030403020204" pitchFamily="34" charset="0"/>
              </a:rPr>
              <a:t> Reduced manual inspection and improved detection speed.</a:t>
            </a:r>
          </a:p>
          <a:p>
            <a:pPr marL="457200" indent="-457200">
              <a:buFont typeface="Courier New" panose="02070309020205020404" pitchFamily="49" charset="0"/>
              <a:buChar char="o"/>
            </a:pPr>
            <a:endParaRPr lang="en-US" sz="3200" dirty="0">
              <a:latin typeface="Source Sans Pro" panose="020B0503030403020204" pitchFamily="34" charset="0"/>
              <a:ea typeface="Source Sans Pro" panose="020B0503030403020204" pitchFamily="34" charset="0"/>
            </a:endParaRPr>
          </a:p>
          <a:p>
            <a:endParaRPr lang="en-US" sz="3200" dirty="0"/>
          </a:p>
        </p:txBody>
      </p:sp>
      <p:pic>
        <p:nvPicPr>
          <p:cNvPr id="4" name="Picture 3" descr="A red sign with white text&#10;&#10;AI-generated content may be incorrect.">
            <a:extLst>
              <a:ext uri="{FF2B5EF4-FFF2-40B4-BE49-F238E27FC236}">
                <a16:creationId xmlns:a16="http://schemas.microsoft.com/office/drawing/2014/main" id="{B1AC7D72-6239-09A0-C499-58492C62D0E7}"/>
              </a:ext>
            </a:extLst>
          </p:cNvPr>
          <p:cNvPicPr>
            <a:picLocks noChangeAspect="1"/>
          </p:cNvPicPr>
          <p:nvPr/>
        </p:nvPicPr>
        <p:blipFill>
          <a:blip r:embed="rId2"/>
          <a:stretch>
            <a:fillRect/>
          </a:stretch>
        </p:blipFill>
        <p:spPr>
          <a:xfrm>
            <a:off x="8843375" y="2091847"/>
            <a:ext cx="5549029" cy="3995801"/>
          </a:xfrm>
          <a:prstGeom prst="rect">
            <a:avLst/>
          </a:prstGeom>
        </p:spPr>
      </p:pic>
    </p:spTree>
    <p:extLst>
      <p:ext uri="{BB962C8B-B14F-4D97-AF65-F5344CB8AC3E}">
        <p14:creationId xmlns:p14="http://schemas.microsoft.com/office/powerpoint/2010/main" val="2476290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64F13-2005-7AAD-72A2-5F6BC6353E7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6031628-BE32-F87E-ED15-71A80B60CEC6}"/>
              </a:ext>
            </a:extLst>
          </p:cNvPr>
          <p:cNvSpPr/>
          <p:nvPr/>
        </p:nvSpPr>
        <p:spPr>
          <a:xfrm>
            <a:off x="2994336" y="280760"/>
            <a:ext cx="9601200" cy="76195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200" b="1" dirty="0"/>
              <a:t>CONCLUSION</a:t>
            </a:r>
          </a:p>
        </p:txBody>
      </p:sp>
      <p:sp>
        <p:nvSpPr>
          <p:cNvPr id="6" name="TextBox 5">
            <a:extLst>
              <a:ext uri="{FF2B5EF4-FFF2-40B4-BE49-F238E27FC236}">
                <a16:creationId xmlns:a16="http://schemas.microsoft.com/office/drawing/2014/main" id="{226D2AC8-7D89-A9D8-E3D0-25F1CF232C34}"/>
              </a:ext>
            </a:extLst>
          </p:cNvPr>
          <p:cNvSpPr txBox="1"/>
          <p:nvPr/>
        </p:nvSpPr>
        <p:spPr>
          <a:xfrm>
            <a:off x="779455" y="1493608"/>
            <a:ext cx="7494261" cy="1077218"/>
          </a:xfrm>
          <a:prstGeom prst="rect">
            <a:avLst/>
          </a:prstGeom>
          <a:noFill/>
        </p:spPr>
        <p:txBody>
          <a:bodyPr wrap="square" rtlCol="0">
            <a:spAutoFit/>
          </a:bodyPr>
          <a:lstStyle/>
          <a:p>
            <a:endParaRPr lang="en-US" sz="3200" dirty="0"/>
          </a:p>
          <a:p>
            <a:endParaRPr lang="en-US" sz="3200" dirty="0"/>
          </a:p>
        </p:txBody>
      </p:sp>
      <p:sp>
        <p:nvSpPr>
          <p:cNvPr id="7" name="Rectangle 2">
            <a:extLst>
              <a:ext uri="{FF2B5EF4-FFF2-40B4-BE49-F238E27FC236}">
                <a16:creationId xmlns:a16="http://schemas.microsoft.com/office/drawing/2014/main" id="{0091AB2F-1332-381C-8377-1651BD96E4E0}"/>
              </a:ext>
            </a:extLst>
          </p:cNvPr>
          <p:cNvSpPr>
            <a:spLocks noChangeArrowheads="1"/>
          </p:cNvSpPr>
          <p:nvPr/>
        </p:nvSpPr>
        <p:spPr bwMode="auto">
          <a:xfrm>
            <a:off x="779455" y="1089097"/>
            <a:ext cx="7896345"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Railway Track Fall Detection System using Faster R-CNN successfully identifies cracks, falls, and obstacles with high accuracy.</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system provides real-time detection with clear bounding boxes, improving the reliability of track monitoring.</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The integrated siren alarm gives instant alerts, helping railway staff respond quickly and prevent accidents.</a:t>
            </a:r>
          </a:p>
          <a:p>
            <a:pPr marL="457200" marR="0" lvl="0" indent="-4572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3200" b="0" i="0" u="none" strike="noStrike" cap="none" normalizeH="0" baseline="0" dirty="0">
                <a:ln>
                  <a:noFill/>
                </a:ln>
                <a:solidFill>
                  <a:schemeClr val="tx1"/>
                </a:solidFill>
                <a:effectLst/>
                <a:latin typeface="Source Sans Pro" panose="020B0503030403020204" pitchFamily="34" charset="0"/>
                <a:ea typeface="Source Sans Pro" panose="020B0503030403020204" pitchFamily="34" charset="0"/>
              </a:rPr>
              <a:t>Overall, the project reduces manual inspection, increases safety, and offers an efficient AI-based solution for railway infrastructure monitoring.</a:t>
            </a:r>
          </a:p>
        </p:txBody>
      </p:sp>
      <p:pic>
        <p:nvPicPr>
          <p:cNvPr id="1026" name="Picture 2" descr="Digital Train Neon Tracks Stock Photos ...">
            <a:extLst>
              <a:ext uri="{FF2B5EF4-FFF2-40B4-BE49-F238E27FC236}">
                <a16:creationId xmlns:a16="http://schemas.microsoft.com/office/drawing/2014/main" id="{CF83E79E-A2EC-1EB4-7EFD-5C0B82A8A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5902" y="1390389"/>
            <a:ext cx="5686816" cy="5761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6177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1016</TotalTime>
  <Words>2226</Words>
  <Application>Microsoft Office PowerPoint</Application>
  <PresentationFormat>Custom</PresentationFormat>
  <Paragraphs>277</Paragraphs>
  <Slides>29</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Aptos Display</vt:lpstr>
      <vt:lpstr>Arial</vt:lpstr>
      <vt:lpstr>Arial Rounded MT Bold</vt:lpstr>
      <vt:lpstr>Calibri</vt:lpstr>
      <vt:lpstr>Calibri Light</vt:lpstr>
      <vt:lpstr>Courier New</vt:lpstr>
      <vt:lpstr>Eras Bold ITC</vt:lpstr>
      <vt:lpstr>Imprint MT Shadow</vt:lpstr>
      <vt:lpstr>Source Sans Pro</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Vishnu Priya Dande</cp:lastModifiedBy>
  <cp:revision>41</cp:revision>
  <dcterms:created xsi:type="dcterms:W3CDTF">2025-01-20T15:32:05Z</dcterms:created>
  <dcterms:modified xsi:type="dcterms:W3CDTF">2025-12-22T05:19:09Z</dcterms:modified>
</cp:coreProperties>
</file>